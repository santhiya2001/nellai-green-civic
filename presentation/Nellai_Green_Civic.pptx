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name, guide, and department before presenting. Everything else on this slide reflects the actual working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5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A7A4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3291840" cy="329184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A7A4C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NELLAI GREEN &amp; CIVIC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Modular Civic &amp; Environmental Management Platform for Tirunelveli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M.E. PROJECT DEMONSTRATION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|   Guide: [Guide Name]   |   Department: [Department]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Tirunelveli needs a unified civic + environmental platform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508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reporting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8745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issues (drains, waste, roads) and environmental issues (water pollution, tree loss) have no single, trackable channel for citizens.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15768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accountability loop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30175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reach an office and disappear -- no deadline, no escalation, no citizen confirmation that the issue was actually fixed.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58768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794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Closed, one-off systems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80160" y="41605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civic apps are built as closed applications -- every new feature needs the whole app rebuilt, so they stop evolving.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001768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937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data is siloed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280160" y="53035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body health, tree cover, and biodiversity data exist (if at all) in disconnected spreadsheets, not a shared, mapped record.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28216"/>
            <a:ext cx="566928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65506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reporting engine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99339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complaint/workflow engine that serves civic, drainage, waste, water, and disaster reports alike.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28216"/>
            <a:ext cx="566928" cy="5669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165506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GIS-grounded operations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199339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capture, administrative-boundary lookup, and a configurable authority-responsibility map -- never a hard-coded office.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6976"/>
            <a:ext cx="566928" cy="5669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1638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accountability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Working-day-aware deadlines and a configurable escalation engine so nothing silently stalls.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301752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3697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78040" y="31638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triage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7178040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lightweight classification service suggests category and severity -- always human-correctable, never authoritative.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45262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45736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08760" y="46725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modular architecture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508760" y="501091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area (afforestation, volunteering, agriculture, biodiversity...) is an independently pluggable module.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45262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745736"/>
            <a:ext cx="566928" cy="56692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78040" y="46725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participation</a:t>
            </a:r>
            <a:endParaRPr lang="en-US" sz="1450" dirty="0"/>
          </a:p>
        </p:txBody>
      </p:sp>
      <p:sp>
        <p:nvSpPr>
          <p:cNvPr id="26" name="Text 18"/>
          <p:cNvSpPr txBox="1"/>
          <p:nvPr/>
        </p:nvSpPr>
        <p:spPr>
          <a:xfrm>
            <a:off x="7178040" y="501091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 and verify; volunteers organize and join environmental activities -- all in the same platform.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never changes when a new feature area is added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34640" y="1554480"/>
            <a:ext cx="6492240" cy="1051560"/>
          </a:xfrm>
          <a:prstGeom prst="roundRect">
            <a:avLst>
              <a:gd name="adj" fmla="val 8696"/>
            </a:avLst>
          </a:prstGeom>
          <a:solidFill>
            <a:srgbClr val="135C3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34640" y="166420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0116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   •   Generic Complaint Engine   •   GIS   •   Escalation Engine   •   Notifications   •   Module Loader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95848" y="2606040"/>
            <a:ext cx="0" cy="50292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2056" y="3108960"/>
            <a:ext cx="10387584" cy="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2056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840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024" y="4142232"/>
            <a:ext cx="512064" cy="5120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71120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00504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15288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472" y="4142232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69568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98952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913736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920" y="4142232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868016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97400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212184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368" y="4142232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166464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095848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510632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816" y="4142232"/>
            <a:ext cx="512064" cy="51206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464912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Afforestation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394296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09080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264" y="4142232"/>
            <a:ext cx="512064" cy="5120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63360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8692744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107528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712" y="4142232"/>
            <a:ext cx="512064" cy="51206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061808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9991192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9405976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5160" y="4142232"/>
            <a:ext cx="512064" cy="51206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360256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11289640" y="3108960"/>
            <a:ext cx="0" cy="457200"/>
          </a:xfrm>
          <a:prstGeom prst="line">
            <a:avLst/>
          </a:prstGeom>
          <a:noFill/>
          <a:ln w="25400">
            <a:solidFill>
              <a:srgbClr val="E0E6E1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10704424" y="397764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3608" y="4142232"/>
            <a:ext cx="512064" cy="512064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0658704" y="4754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950" dirty="0"/>
          </a:p>
        </p:txBody>
      </p:sp>
      <p:sp>
        <p:nvSpPr>
          <p:cNvPr id="45" name="Text 3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= module.json manifest + optional models/router. The core discovers and mounts it at startup -- adding “flood-monitoring” never touches core code.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1874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697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FastAPI, SQLAlchemy 2 (async), Alembic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325112" y="1600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72" y="187452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07992" y="2697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553712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PostGIS -- every location is a real geometry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101584" y="1600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6044" y="187452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84464" y="2697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30184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(zero-shot text) + torchvision (image signal), standalone microservice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402336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5166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Vite, Leaflet, Recharts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325112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572" y="4023360"/>
            <a:ext cx="731520" cy="7315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507992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553712" y="5166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 -- Android first, iOS-ready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8101584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4023360"/>
            <a:ext cx="731520" cy="7315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284464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330184" y="5166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GitHub Actions CI, Apache-2.0 licensed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Engine: Complaint Lifecycle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workflow, shared by every reporting module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600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028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024" y="2267712"/>
            <a:ext cx="118872" cy="118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0332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5760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AI_ANALYZED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344" y="2267712"/>
            <a:ext cx="118872" cy="1188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2064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7492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664" y="2267712"/>
            <a:ext cx="118872" cy="1188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3796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69224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984" y="2267712"/>
            <a:ext cx="118872" cy="1188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528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10956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304" y="2267712"/>
            <a:ext cx="118872" cy="11887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57260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52688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5624" y="2267712"/>
            <a:ext cx="118872" cy="11887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8992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894420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2944" y="2267712"/>
            <a:ext cx="118872" cy="118872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10407244" y="201168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1A7A4C"/>
          </a:solidFill>
          <a:ln w="15240">
            <a:solidFill>
              <a:srgbClr val="1A7A4C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10361524" y="201168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486004" y="32461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BE7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486004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3412084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a stored reason, at any stage before CLOSED)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86004" y="416052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DF1E0"/>
          </a:solidFill>
          <a:ln w="12700">
            <a:solidFill>
              <a:srgbClr val="B9791A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486004" y="4160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→ REOPENED → IN_PROGRESS</a:t>
            </a:r>
            <a:endParaRPr lang="en-US" sz="950" dirty="0"/>
          </a:p>
        </p:txBody>
      </p:sp>
      <p:sp>
        <p:nvSpPr>
          <p:cNvPr id="32" name="Text 23"/>
          <p:cNvSpPr txBox="1"/>
          <p:nvPr/>
        </p:nvSpPr>
        <p:spPr>
          <a:xfrm>
            <a:off x="4235044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citizen rejects the resolution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486004" y="5212080"/>
            <a:ext cx="1121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</a:t>
            </a:r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citizen-filed DRAIN_BLOCKAGE report was auto-classified, matched to a boundary, assigned to the configured authority, and given a working-day deadline -- end to end, no manual step.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GIS-Based Authority Assignment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data, not a hard-coded office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78028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428" y="2057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5188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point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60908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Citizen's complaint location (lat/lng)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060" y="2880360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66948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348" y="205740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04108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lookup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3649828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point-in-polygon finds the containing village/town/ward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80" y="2880360"/>
            <a:ext cx="20116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55868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268" y="2057400"/>
            <a:ext cx="640080" cy="6400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393028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 map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6438748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Admin-configured: category (+ boundary level) → authority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900" y="2880360"/>
            <a:ext cx="201168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044788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9188" y="2057400"/>
            <a:ext cx="640080" cy="64008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181948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assigned</a:t>
            </a:r>
            <a:endParaRPr lang="en-US" sz="1350" dirty="0"/>
          </a:p>
        </p:txBody>
      </p:sp>
      <p:sp>
        <p:nvSpPr>
          <p:cNvPr id="22" name="Text 13"/>
          <p:cNvSpPr txBox="1"/>
          <p:nvPr/>
        </p:nvSpPr>
        <p:spPr>
          <a:xfrm>
            <a:off x="9227668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working-day deadline from the matching escalation rule</a:t>
            </a:r>
            <a:endParaRPr lang="en-US" sz="1000" dirty="0"/>
          </a:p>
        </p:txBody>
      </p:sp>
      <p:sp>
        <p:nvSpPr>
          <p:cNvPr id="23" name="Text 14"/>
          <p:cNvSpPr txBox="1"/>
          <p:nvPr/>
        </p:nvSpPr>
        <p:spPr>
          <a:xfrm>
            <a:off x="678028" y="448056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is ever routed to a fixed office in code. Admins configure Village→Panchayat, Town→Municipality, Urban area→Corporation, or a department override -- entirely through /api/v1/authorities.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Escalation Engine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Working-day aware -- never a naive +72 hours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 calculation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 = </a:t>
            </a:r>
            <a:pPr indent="0" marL="0">
              <a:buNone/>
            </a:pPr>
            <a:r>
              <a:rPr lang="en-US" sz="1200" b="1" dirty="0">
                <a:solidFill>
                  <a:srgbClr val="1A7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add_working_days(now, N)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weekends and an admin-configurable holiday calendar (seeded from India/TN public holidays). </a:t>
            </a:r>
            <a:pPr indent="0" marL="0">
              <a:buNone/>
            </a:pPr>
            <a:r>
              <a:rPr lang="en-US" sz="1150" b="1" dirty="0">
                <a:solidFill>
                  <a:srgbClr val="1A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</a:t>
            </a:r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complaint filed Friday, 3-day deadline, correctly landed the following Wednesday -- skipping Sat/Sun.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4343400"/>
            <a:ext cx="4526280" cy="0"/>
          </a:xfrm>
          <a:prstGeom prst="line">
            <a:avLst/>
          </a:prstGeom>
          <a:noFill/>
          <a:ln w="12700">
            <a:solidFill>
              <a:srgbClr val="E0E6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4480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EscalationRule (admin-configurable, per category or default)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8006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category_code, deadline_days, initial_authority_level, escalation_level_1, escalation_level_2, reminder_before_days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ladder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26480" y="21945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A7A4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2648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BODY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242316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01000" y="21945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0100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LEVEL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423160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875520" y="21945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87552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LEVEL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6126480" y="32004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sweep (scripts/run_escalation_sweep.py, or a scheduled job) reminds before the deadline and raises the authority level after it -- re-using the same configured responsibility map, never a hard-coded “Collector”.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26480" y="466344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8463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477316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tighter 1-day default is seeded for FLOOD_REPORT -- disaster-grade urgency is a config value, not special-cased code.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Complaint Classification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lightweight model -- not a mock, and never authoritative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Text: zero-shot embedding match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paraphrase-MiniLM-L3-v2 (~17M params)
</a:t>
            </a:r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has a canonical description. The citizen's free-text description is embedded and compared by cosine similarity -- the closest category wins, with a confidence score and severity heuristic from keyword matching.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54880" cy="0"/>
          </a:xfrm>
          <a:prstGeom prst="line">
            <a:avLst/>
          </a:prstGeom>
          <a:noFill/>
          <a:ln w="12700">
            <a:solidFill>
              <a:srgbClr val="E0E6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Image: pretrained MobileNetV3-Small (auxiliary)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labels have no “blocked drain” class, so a curated subset only nudges confidence -- text always carries the primary classification.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microservice (ai/) -- POST /classify. Swappable/scalable independently; if it's down, complaint filing still works.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35C3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37960" y="1810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RESULT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194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drain near my house has been blocked for a week and sewage water is overflowing onto the road”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category_code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DRAIN_BLOCKAGE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3639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078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4078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match #2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45171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CANAL_BLOCKAGE (0.62)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51846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the category and escalated severity purely from the keywords “overflowing” / “sewage” -- genuine inference, run against the live AI microservice.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review -- never auto-deletes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0868" y="17373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1965960"/>
            <a:ext cx="585216" cy="5852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78028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proximity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23748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ST_DWithin, 75m radius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75508" y="17373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920" y="1965960"/>
            <a:ext cx="585216" cy="5852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12668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category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558388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compares like-for-like reports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0148" y="17373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60" y="1965960"/>
            <a:ext cx="585216" cy="5852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47308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window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393028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within 72 hours of each other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044788" y="17373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200" y="1965960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81948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similarity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9227668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pg_trgm similarity() on the description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0868" y="38862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DF1E0"/>
          </a:solidFill>
          <a:ln w="12700">
            <a:solidFill>
              <a:srgbClr val="B9791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60908" y="4069080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 ≥ threshold → “Possible duplicate” shown to admins, who can merge (POST /complaints/{id}/merge/{target_id}). The original report is always preserved.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Feature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built and running -- civic core to environmental science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9156" y="15544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324" y="18288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3556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473556" y="20848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damage, streetlights, public toilets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35628" y="15544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796" y="182880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002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Drainage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250028" y="20848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 &amp; stagnation reporting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112100" y="15544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268" y="18288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2650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026500" y="20848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Garbage, illegal dumping, plastic waste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59156" y="32004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4" y="347472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73556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Neervalam (Water)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473556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River/lake/canal tracking + observations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335628" y="32004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796" y="3474720"/>
            <a:ext cx="566928" cy="5669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50028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Nellai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250028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sites, tree registry, survival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8112100" y="32004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268" y="3474720"/>
            <a:ext cx="566928" cy="5669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26500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 Nellai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9026500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scheduling &amp; registration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559156" y="4846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324" y="5120640"/>
            <a:ext cx="566928" cy="5669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73556" y="5029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473556" y="53766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disease/pest reports + advisories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335628" y="4846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796" y="5120640"/>
            <a:ext cx="566928" cy="56692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250028" y="5029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Biodiversity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5250028" y="53766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catalog + sighting observations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8112100" y="4846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3268" y="5120640"/>
            <a:ext cx="566928" cy="56692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026500" y="5029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9026500" y="53766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urgent citizen reports</a:t>
            </a:r>
            <a:endParaRPr lang="en-US" sz="95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&amp; Mobile Clients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clients -- all business logic lives in the shared backend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52160" cy="3977640"/>
          </a:xfrm>
          <a:prstGeom prst="roundRect">
            <a:avLst>
              <a:gd name="adj" fmla="val 2299"/>
            </a:avLst>
          </a:prstGeom>
          <a:solidFill>
            <a:srgbClr val="F6F8F6"/>
          </a:solidFill>
          <a:ln w="15240">
            <a:solidFill>
              <a:srgbClr val="E0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852160" cy="365760"/>
          </a:xfrm>
          <a:prstGeom prst="roundRect">
            <a:avLst>
              <a:gd name="adj" fmla="val 25000"/>
            </a:avLst>
          </a:prstGeom>
          <a:solidFill>
            <a:srgbClr val="135C3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728216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728216"/>
            <a:ext cx="109728" cy="109728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728216"/>
            <a:ext cx="109728" cy="109728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localhost:5173 -- React + TypeScript + Leaflet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1371600" cy="3611880"/>
          </a:xfrm>
          <a:prstGeom prst="rect">
            <a:avLst/>
          </a:prstGeom>
          <a:solidFill>
            <a:srgbClr val="135C39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2167128"/>
            <a:ext cx="1152144" cy="329184"/>
          </a:xfrm>
          <a:prstGeom prst="roundRect">
            <a:avLst>
              <a:gd name="adj" fmla="val 13889"/>
            </a:avLst>
          </a:prstGeom>
          <a:solidFill>
            <a:srgbClr val="1A7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1671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49808" y="2624328"/>
            <a:ext cx="1152144" cy="329184"/>
          </a:xfrm>
          <a:prstGeom prst="roundRect">
            <a:avLst>
              <a:gd name="adj" fmla="val 13889"/>
            </a:avLst>
          </a:prstGeom>
          <a:solidFill>
            <a:srgbClr val="135C3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6243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49808" y="3081528"/>
            <a:ext cx="1152144" cy="329184"/>
          </a:xfrm>
          <a:prstGeom prst="roundRect">
            <a:avLst>
              <a:gd name="adj" fmla="val 13889"/>
            </a:avLst>
          </a:prstGeom>
          <a:solidFill>
            <a:srgbClr val="135C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0815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Complaints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9808" y="3538728"/>
            <a:ext cx="1152144" cy="329184"/>
          </a:xfrm>
          <a:prstGeom prst="roundRect">
            <a:avLst>
              <a:gd name="adj" fmla="val 13889"/>
            </a:avLst>
          </a:prstGeom>
          <a:solidFill>
            <a:srgbClr val="135C3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5387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Issues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49808" y="3995928"/>
            <a:ext cx="1152144" cy="329184"/>
          </a:xfrm>
          <a:prstGeom prst="roundRect">
            <a:avLst>
              <a:gd name="adj" fmla="val 13889"/>
            </a:avLst>
          </a:prstGeom>
          <a:solidFill>
            <a:srgbClr val="135C3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9959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2167128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6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2167128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6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167128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6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306324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E3EEE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9060" y="3680460"/>
            <a:ext cx="640080" cy="64008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2240280" y="43662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map: complaints, water bodies, trees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49440" y="1417320"/>
            <a:ext cx="2331720" cy="4617720"/>
          </a:xfrm>
          <a:prstGeom prst="roundRect">
            <a:avLst>
              <a:gd name="adj" fmla="val 10980"/>
            </a:avLst>
          </a:prstGeom>
          <a:solidFill>
            <a:srgbClr val="135C39"/>
          </a:solidFill>
          <a:ln/>
        </p:spPr>
      </p:sp>
      <p:sp>
        <p:nvSpPr>
          <p:cNvPr id="28" name="Shape 25"/>
          <p:cNvSpPr/>
          <p:nvPr/>
        </p:nvSpPr>
        <p:spPr>
          <a:xfrm>
            <a:off x="7040880" y="1673352"/>
            <a:ext cx="2148840" cy="3840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0" y="1920240"/>
            <a:ext cx="548640" cy="54864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13232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178040" y="2971800"/>
            <a:ext cx="1874520" cy="420624"/>
          </a:xfrm>
          <a:prstGeom prst="roundRect">
            <a:avLst>
              <a:gd name="adj" fmla="val 13043"/>
            </a:avLst>
          </a:prstGeom>
          <a:solidFill>
            <a:srgbClr val="F6F8F6"/>
          </a:solidFill>
          <a:ln w="9525">
            <a:solidFill>
              <a:srgbClr val="E0E6E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269480" y="29718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DRAIN_BLOCKAGE ▾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7178040" y="3538728"/>
            <a:ext cx="1874520" cy="420624"/>
          </a:xfrm>
          <a:prstGeom prst="roundRect">
            <a:avLst>
              <a:gd name="adj" fmla="val 13043"/>
            </a:avLst>
          </a:prstGeom>
          <a:solidFill>
            <a:srgbClr val="F6F8F6"/>
          </a:solidFill>
          <a:ln w="9525">
            <a:solidFill>
              <a:srgbClr val="E0E6E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269480" y="35387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GPS location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7178040" y="4105656"/>
            <a:ext cx="1874520" cy="420624"/>
          </a:xfrm>
          <a:prstGeom prst="roundRect">
            <a:avLst>
              <a:gd name="adj" fmla="val 13043"/>
            </a:avLst>
          </a:prstGeom>
          <a:solidFill>
            <a:srgbClr val="F6F8F6"/>
          </a:solidFill>
          <a:ln w="9525">
            <a:solidFill>
              <a:srgbClr val="E0E6E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269480" y="410565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Gallery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7178040" y="48006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A7A4C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178040" y="4800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Complaint</a:t>
            </a:r>
            <a:endParaRPr lang="en-US" sz="85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532120"/>
            <a:ext cx="274320" cy="274320"/>
          </a:xfrm>
          <a:prstGeom prst="rect">
            <a:avLst/>
          </a:prstGeom>
        </p:spPr>
      </p:pic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5532120"/>
            <a:ext cx="274320" cy="274320"/>
          </a:xfrm>
          <a:prstGeom prst="rect">
            <a:avLst/>
          </a:prstGeom>
        </p:spPr>
      </p:pic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5532120"/>
            <a:ext cx="274320" cy="274320"/>
          </a:xfrm>
          <a:prstGeom prst="rect">
            <a:avLst/>
          </a:prstGeom>
        </p:spPr>
      </p:pic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5532120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949440" y="6144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-- Android-first, iOS-ready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640080" y="568756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illustration of the real, running UI. Both clients are intentionally thin: GPS capture, photo upload, and rendering only -- assignment, escalation, and workflow rules all live in the shared backend.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Privacy &amp; Data Model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 + RBAC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8928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roles: Citizen, Volunteer, Authority, Admin, Super Admin, Module Developer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by default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30358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hashing, SHA-256 refresh-token storage, rate limiting, MIME + size validation on uploads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8620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1280160" y="41788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map never shows a reporter's name/contact; self-service account deletion de-identifies complaint history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675120" y="160020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135C3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10512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589520" y="1901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15 + PostGIS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94944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6" name="Text 10"/>
          <p:cNvSpPr txBox="1"/>
          <p:nvPr/>
        </p:nvSpPr>
        <p:spPr>
          <a:xfrm>
            <a:off x="8366760" y="2587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(core + 9 modules)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6949440" y="31729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18" name="Text 12"/>
          <p:cNvSpPr txBox="1"/>
          <p:nvPr/>
        </p:nvSpPr>
        <p:spPr>
          <a:xfrm>
            <a:off x="836676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categories, seeded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6949440" y="38313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4326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366760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SRID -- real GPS lat/lng geometry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6949440" y="4489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8366760" y="4562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 suites, all passing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949440" y="5193792"/>
            <a:ext cx="4389120" cy="0"/>
          </a:xfrm>
          <a:prstGeom prst="line">
            <a:avLst/>
          </a:prstGeom>
          <a:noFill/>
          <a:ln w="12700">
            <a:solidFill>
              <a:srgbClr val="2F6B4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949440" y="5349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Alembic-managed migrations; every module's models bind to the same shared metadata, so core and module tables evolve together.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 &amp; Extensibility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License 2.0 -- built for community contribution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190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modules/&lt;id&gt;/module.json (id, name, version, categories...)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0" cy="411480"/>
          </a:xfrm>
          <a:prstGeom prst="line">
            <a:avLst/>
          </a:prstGeom>
          <a:noFill/>
          <a:ln w="19050">
            <a:solidFill>
              <a:srgbClr val="E0E6E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877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 backend/models.py -- binds to the shared Base, Alembic manages 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0" cy="411480"/>
          </a:xfrm>
          <a:prstGeom prst="line">
            <a:avLst/>
          </a:prstGeom>
          <a:noFill/>
          <a:ln w="19050">
            <a:solidFill>
              <a:srgbClr val="E0E6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56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 backend/router.py -- auto-mounted at /api/v1/modules/&lt;id&gt;/...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886200"/>
            <a:ext cx="0" cy="411480"/>
          </a:xfrm>
          <a:prstGeom prst="line">
            <a:avLst/>
          </a:prstGeom>
          <a:noFill/>
          <a:ln w="19050">
            <a:solidFill>
              <a:srgbClr val="E0E6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94360" y="4297680"/>
            <a:ext cx="457200" cy="457200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251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discovers it at startup. No core file is ever edited.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8183880" cy="1005840"/>
          </a:xfrm>
          <a:prstGeom prst="roundRect">
            <a:avLst>
              <a:gd name="adj" fmla="val 9091"/>
            </a:avLst>
          </a:prstGeom>
          <a:solidFill>
            <a:srgbClr val="E3EEE6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08760" y="54406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pattern: all 9 shipped modules -- from a 0-code category module (civic) to a full custom-entity module (water) -- follow exactly this path.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52560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78308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2811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2811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architecture.md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92811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installation.md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928116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module-development.md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92811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api.md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928116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database.md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928116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deployment.md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928116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security.md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928116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android-release.md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928116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privacy-policy.md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5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-- Verified, Not Just Claimed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84048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13990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complaint lifecycle tested live: GPS → boundary lookup → authority assignment → working-day deadline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12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20208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 returns real inference (not a stub) -- confirmed against multiple free-text descriptions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60904"/>
            <a:ext cx="384048" cy="38404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26426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backend pytest suites passing against live PostgreSQL + PostGIS (auth, complaint creation, GIS assignment)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82696"/>
            <a:ext cx="384048" cy="38404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88720" y="32644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app: flutter analyze -- “No issues found”; widget test passing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04488"/>
            <a:ext cx="384048" cy="38404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88720" y="38862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TypeScript compiles clean (tsc -b); Vite dev server serving all citizen/admin/authority routes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384048" cy="38404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188720" y="45079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module.json manifests pass CI's schema validation script</a:t>
            </a:r>
            <a:endParaRPr lang="en-US" sz="13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48072"/>
            <a:ext cx="384048" cy="38404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188720" y="51297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 applied cleanly: 28 tables across core + all 9 modules, from one Alembic chain</a:t>
            </a:r>
            <a:endParaRPr lang="en-US" sz="1350" dirty="0"/>
          </a:p>
        </p:txBody>
      </p:sp>
      <p:sp>
        <p:nvSpPr>
          <p:cNvPr id="17" name="Text 8"/>
          <p:cNvSpPr txBox="1"/>
          <p:nvPr/>
        </p:nvSpPr>
        <p:spPr>
          <a:xfrm>
            <a:off x="548640" y="59070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 for you (needs your own accounts/credentials): Play Store upload, SMTP/FCM credentials for real email/push.</a:t>
            </a:r>
            <a:endParaRPr lang="en-US" sz="1150" dirty="0"/>
          </a:p>
        </p:txBody>
      </p:sp>
      <p:sp>
        <p:nvSpPr>
          <p:cNvPr id="18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running locally -- deployed to the public internet and verified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448" y="1600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2002536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69568" y="1764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569568" y="2103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nellai-green-civic.netlify.app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569568" y="2441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2002536"/>
            <a:ext cx="566928" cy="5669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3128" y="1764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7193128" y="2103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nellai-backend.onrender.com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193128" y="2441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9448" y="3227832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8" y="3630168"/>
            <a:ext cx="566928" cy="56692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69568" y="33924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1569568" y="37307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nellai-ai.onrender.com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569568" y="4069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33008" y="3227832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F8F6"/>
          </a:solidFill>
          <a:ln w="12700">
            <a:solidFill>
              <a:srgbClr val="E0E6E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3630168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93128" y="33924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7193128" y="37307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github.com/Santhiya2001/nellai-green-civic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7193128" y="4069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(public)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09448" y="4946904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E3EEE6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8" y="5175504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69568" y="5056632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live, not just “deployed”: registered a citizen, logged in, and filed a complaint against the production backend -- GPS, PostGIS, and cross-service AI classification (Render → Render) all confirmed working through real Netlify → Render traffic with CORS correctly configured.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9385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production release (signing key, store listing, Data Safety form)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27157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Community-contributed modules: flood monitoring, temple water tanks, school environmental clubs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04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3493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Fine-tuned, domain-specific vision model to replace the auxiliary ImageNet signal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29768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97280" y="42702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Multi-district configuration -- Tirunelveli as the reference deployment, not the ceiling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630936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35C39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83080"/>
            <a:ext cx="594360" cy="5943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315200" y="1828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open-source framework, with Tirunelveli as the first reference implementation.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6583680" y="26974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in this project traces back to one goal: build the core once, and let students, developers, NGOs, and citizens extend it indefinitely -- without ever needing to touch, or even fully understand, the core.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6583680" y="3977640"/>
            <a:ext cx="4846320" cy="0"/>
          </a:xfrm>
          <a:prstGeom prst="line">
            <a:avLst/>
          </a:prstGeom>
          <a:noFill/>
          <a:ln w="12700">
            <a:solidFill>
              <a:srgbClr val="2F6B4C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58368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658368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Nellai Green &amp; Civic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M.E.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Nellai Green &amp; Civic</dc:title>
  <dc:subject>PptxGenJS Presentation</dc:subject>
  <dc:creator>Nellai Green &amp; Civic</dc:creator>
  <cp:lastModifiedBy>Nellai Green &amp; Civic</cp:lastModifiedBy>
  <cp:revision>1</cp:revision>
  <dcterms:created xsi:type="dcterms:W3CDTF">2026-09-23T04:57:52Z</dcterms:created>
  <dcterms:modified xsi:type="dcterms:W3CDTF">2026-09-23T04:57:52Z</dcterms:modified>
</cp:coreProperties>
</file>