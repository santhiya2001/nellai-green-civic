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Fill in your name, guide, and department before presenting. Everything else on this slide reflects the actual working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5C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645920"/>
            <a:ext cx="5486400" cy="5486400"/>
          </a:xfrm>
          <a:prstGeom prst="ellipse">
            <a:avLst/>
          </a:prstGeom>
          <a:solidFill>
            <a:srgbClr val="1A7A4C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-548640"/>
            <a:ext cx="3291840" cy="3291840"/>
          </a:xfrm>
          <a:prstGeom prst="ellipse">
            <a:avLst/>
          </a:prstGeom>
          <a:solidFill>
            <a:srgbClr val="97BC62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463040" y="4206240"/>
            <a:ext cx="4206240" cy="4206240"/>
          </a:xfrm>
          <a:prstGeom prst="ellipse">
            <a:avLst/>
          </a:prstGeom>
          <a:solidFill>
            <a:srgbClr val="1A7A4C">
              <a:alpha val="40000"/>
            </a:srgbClr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85800"/>
            <a:ext cx="822960" cy="8229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228600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NELLAI GREEN &amp; CIVIC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658368" y="324612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Open-Source, Modular Civic &amp; Environmental Management Platform for Tirunelveli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53949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M.E. PROJECT DEMONSTRATION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57607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by: [Your Name]   |   Guide: [Guide Name]   |   Department: [Department]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Tirunelveli needs a unified civic + environmental platform</a:t>
            </a:r>
            <a:endParaRPr lang="en-US" sz="1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72768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50876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Fragmented reporting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1280160" y="18745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Civic issues (drains, waste, roads) and environmental issues (water pollution, tree loss) have no single, trackable channel for citizens.</a:t>
            </a:r>
            <a:endParaRPr lang="en-US" sz="13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715768"/>
            <a:ext cx="502920" cy="5029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265176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accountability loop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1280160" y="30175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Complaints reach an office and disappear -- no deadline, no escalation, no citizen confirmation that the issue was actually fixed.</a:t>
            </a:r>
            <a:endParaRPr lang="en-US" sz="13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858768"/>
            <a:ext cx="502920" cy="5029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80160" y="379476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Closed, one-off systems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1280160" y="41605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civic apps are built as closed applications -- every new feature needs the whole app rebuilt, so they stop evolving.</a:t>
            </a:r>
            <a:endParaRPr lang="en-US" sz="13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5001768"/>
            <a:ext cx="502920" cy="5029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280160" y="493776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Environmental data is siloed</a:t>
            </a:r>
            <a:endParaRPr lang="en-US" sz="1600" dirty="0"/>
          </a:p>
        </p:txBody>
      </p:sp>
      <p:sp>
        <p:nvSpPr>
          <p:cNvPr id="15" name="Text 9"/>
          <p:cNvSpPr txBox="1"/>
          <p:nvPr/>
        </p:nvSpPr>
        <p:spPr>
          <a:xfrm>
            <a:off x="1280160" y="53035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body health, tree cover, and biodiversity data exist (if at all) in disconnected spreadsheets, not a shared, mapped record.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Nellai Green &amp; Civic</a:t>
            </a:r>
            <a:endParaRPr lang="en-US" sz="1000" dirty="0"/>
          </a:p>
        </p:txBody>
      </p:sp>
      <p:sp>
        <p:nvSpPr>
          <p:cNvPr id="17" name="Text 11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Objectives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5349240" cy="1298448"/>
          </a:xfrm>
          <a:prstGeom prst="roundRect">
            <a:avLst>
              <a:gd name="adj" fmla="val 7042"/>
            </a:avLst>
          </a:prstGeom>
          <a:solidFill>
            <a:srgbClr val="F6F8F6"/>
          </a:solidFill>
          <a:ln w="12700">
            <a:solidFill>
              <a:srgbClr val="E0E6E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728216"/>
            <a:ext cx="566928" cy="56692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08760" y="1655064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Unified reporting engine</a:t>
            </a:r>
            <a:endParaRPr lang="en-US" sz="1450" dirty="0"/>
          </a:p>
        </p:txBody>
      </p:sp>
      <p:sp>
        <p:nvSpPr>
          <p:cNvPr id="6" name="Text 3"/>
          <p:cNvSpPr txBox="1"/>
          <p:nvPr/>
        </p:nvSpPr>
        <p:spPr>
          <a:xfrm>
            <a:off x="1508760" y="1993392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generic complaint/workflow engine that serves civic, drainage, waste, water, and disaster reports alike.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217920" y="1508760"/>
            <a:ext cx="5349240" cy="1298448"/>
          </a:xfrm>
          <a:prstGeom prst="roundRect">
            <a:avLst>
              <a:gd name="adj" fmla="val 7042"/>
            </a:avLst>
          </a:prstGeom>
          <a:solidFill>
            <a:srgbClr val="F6F8F6"/>
          </a:solidFill>
          <a:ln w="12700">
            <a:solidFill>
              <a:srgbClr val="E0E6E1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728216"/>
            <a:ext cx="566928" cy="5669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178040" y="1655064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GIS-grounded operations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7178040" y="1993392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 capture, administrative-boundary lookup, and a configurable authority-responsibility map -- never a hard-coded office.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3017520"/>
            <a:ext cx="5349240" cy="1298448"/>
          </a:xfrm>
          <a:prstGeom prst="roundRect">
            <a:avLst>
              <a:gd name="adj" fmla="val 7042"/>
            </a:avLst>
          </a:prstGeom>
          <a:solidFill>
            <a:srgbClr val="F6F8F6"/>
          </a:solidFill>
          <a:ln w="12700">
            <a:solidFill>
              <a:srgbClr val="E0E6E1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236976"/>
            <a:ext cx="566928" cy="56692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508760" y="3163824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Automatic accountability</a:t>
            </a:r>
            <a:endParaRPr lang="en-US" sz="1450" dirty="0"/>
          </a:p>
        </p:txBody>
      </p:sp>
      <p:sp>
        <p:nvSpPr>
          <p:cNvPr id="14" name="Text 9"/>
          <p:cNvSpPr txBox="1"/>
          <p:nvPr/>
        </p:nvSpPr>
        <p:spPr>
          <a:xfrm>
            <a:off x="1508760" y="3502152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Working-day-aware deadlines and a configurable escalation engine so nothing silently stalls.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6217920" y="3017520"/>
            <a:ext cx="5349240" cy="1298448"/>
          </a:xfrm>
          <a:prstGeom prst="roundRect">
            <a:avLst>
              <a:gd name="adj" fmla="val 7042"/>
            </a:avLst>
          </a:prstGeom>
          <a:solidFill>
            <a:srgbClr val="F6F8F6"/>
          </a:solidFill>
          <a:ln w="12700">
            <a:solidFill>
              <a:srgbClr val="E0E6E1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3236976"/>
            <a:ext cx="566928" cy="56692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178040" y="3163824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AI-assisted triage</a:t>
            </a:r>
            <a:endParaRPr lang="en-US" sz="1450" dirty="0"/>
          </a:p>
        </p:txBody>
      </p:sp>
      <p:sp>
        <p:nvSpPr>
          <p:cNvPr id="18" name="Text 12"/>
          <p:cNvSpPr txBox="1"/>
          <p:nvPr/>
        </p:nvSpPr>
        <p:spPr>
          <a:xfrm>
            <a:off x="7178040" y="3502152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real, lightweight classification service suggests category and severity -- always human-correctable, never authoritative.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4526280"/>
            <a:ext cx="5349240" cy="1298448"/>
          </a:xfrm>
          <a:prstGeom prst="roundRect">
            <a:avLst>
              <a:gd name="adj" fmla="val 7042"/>
            </a:avLst>
          </a:prstGeom>
          <a:solidFill>
            <a:srgbClr val="F6F8F6"/>
          </a:solidFill>
          <a:ln w="12700">
            <a:solidFill>
              <a:srgbClr val="E0E6E1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745736"/>
            <a:ext cx="566928" cy="566928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508760" y="4672584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Open, modular architecture</a:t>
            </a:r>
            <a:endParaRPr lang="en-US" sz="1450" dirty="0"/>
          </a:p>
        </p:txBody>
      </p:sp>
      <p:sp>
        <p:nvSpPr>
          <p:cNvPr id="22" name="Text 15"/>
          <p:cNvSpPr txBox="1"/>
          <p:nvPr/>
        </p:nvSpPr>
        <p:spPr>
          <a:xfrm>
            <a:off x="1508760" y="5010912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feature area (afforestation, volunteering, agriculture, biodiversity...) is an independently pluggable module.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217920" y="4526280"/>
            <a:ext cx="5349240" cy="1298448"/>
          </a:xfrm>
          <a:prstGeom prst="roundRect">
            <a:avLst>
              <a:gd name="adj" fmla="val 7042"/>
            </a:avLst>
          </a:prstGeom>
          <a:solidFill>
            <a:srgbClr val="F6F8F6"/>
          </a:solidFill>
          <a:ln w="12700">
            <a:solidFill>
              <a:srgbClr val="E0E6E1"/>
            </a:solidFill>
            <a:prstDash val="solid"/>
          </a:ln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6520" y="4745736"/>
            <a:ext cx="566928" cy="566928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7178040" y="4672584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Community participation</a:t>
            </a:r>
            <a:endParaRPr lang="en-US" sz="1450" dirty="0"/>
          </a:p>
        </p:txBody>
      </p:sp>
      <p:sp>
        <p:nvSpPr>
          <p:cNvPr id="26" name="Text 18"/>
          <p:cNvSpPr txBox="1"/>
          <p:nvPr/>
        </p:nvSpPr>
        <p:spPr>
          <a:xfrm>
            <a:off x="7178040" y="5010912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Citizens report and verify; volunteers organize and join environmental activities -- all in the same platform.</a:t>
            </a:r>
            <a:endParaRPr lang="en-US" sz="1100" dirty="0"/>
          </a:p>
        </p:txBody>
      </p:sp>
      <p:sp>
        <p:nvSpPr>
          <p:cNvPr id="27" name="Text 1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Nellai Green &amp; Civic</a:t>
            </a:r>
            <a:endParaRPr lang="en-US" sz="1000" dirty="0"/>
          </a:p>
        </p:txBody>
      </p:sp>
      <p:sp>
        <p:nvSpPr>
          <p:cNvPr id="28" name="Text 20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Modular Architecture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never changes when a new feature area is added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834640" y="1554480"/>
            <a:ext cx="6492240" cy="1051560"/>
          </a:xfrm>
          <a:prstGeom prst="roundRect">
            <a:avLst>
              <a:gd name="adj" fmla="val 8696"/>
            </a:avLst>
          </a:prstGeom>
          <a:solidFill>
            <a:srgbClr val="135C3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2834640" y="1664208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PLATFORM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3017520" y="2011680"/>
            <a:ext cx="612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&amp; RBAC   •   Generic Complaint Engine   •   GIS   •   Escalation Engine   •   Notifications   •   Module Loader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095848" y="2606040"/>
            <a:ext cx="0" cy="502920"/>
          </a:xfrm>
          <a:prstGeom prst="line">
            <a:avLst/>
          </a:prstGeom>
          <a:noFill/>
          <a:ln w="25400">
            <a:solidFill>
              <a:srgbClr val="E0E6E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02056" y="3108960"/>
            <a:ext cx="10387584" cy="0"/>
          </a:xfrm>
          <a:prstGeom prst="line">
            <a:avLst/>
          </a:prstGeom>
          <a:noFill/>
          <a:ln w="25400">
            <a:solidFill>
              <a:srgbClr val="E0E6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02056" y="3108960"/>
            <a:ext cx="0" cy="457200"/>
          </a:xfrm>
          <a:prstGeom prst="line">
            <a:avLst/>
          </a:prstGeom>
          <a:noFill/>
          <a:ln w="25400">
            <a:solidFill>
              <a:srgbClr val="E0E6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16840" y="3977640"/>
            <a:ext cx="1170432" cy="1417320"/>
          </a:xfrm>
          <a:prstGeom prst="roundRect">
            <a:avLst>
              <a:gd name="adj" fmla="val 6250"/>
            </a:avLst>
          </a:prstGeom>
          <a:solidFill>
            <a:srgbClr val="F6F8F6"/>
          </a:solidFill>
          <a:ln w="12700">
            <a:solidFill>
              <a:srgbClr val="E0E6E1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6024" y="4142232"/>
            <a:ext cx="512064" cy="512064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271120" y="4754880"/>
            <a:ext cx="1261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2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Civic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2200504" y="3108960"/>
            <a:ext cx="0" cy="457200"/>
          </a:xfrm>
          <a:prstGeom prst="line">
            <a:avLst/>
          </a:prstGeom>
          <a:noFill/>
          <a:ln w="25400">
            <a:solidFill>
              <a:srgbClr val="E0E6E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615288" y="3977640"/>
            <a:ext cx="1170432" cy="1417320"/>
          </a:xfrm>
          <a:prstGeom prst="roundRect">
            <a:avLst>
              <a:gd name="adj" fmla="val 6250"/>
            </a:avLst>
          </a:prstGeom>
          <a:solidFill>
            <a:srgbClr val="F6F8F6"/>
          </a:solidFill>
          <a:ln w="12700">
            <a:solidFill>
              <a:srgbClr val="E0E6E1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4472" y="4142232"/>
            <a:ext cx="512064" cy="51206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569568" y="4754880"/>
            <a:ext cx="1261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2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Drainage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3498952" y="3108960"/>
            <a:ext cx="0" cy="457200"/>
          </a:xfrm>
          <a:prstGeom prst="line">
            <a:avLst/>
          </a:prstGeom>
          <a:noFill/>
          <a:ln w="25400">
            <a:solidFill>
              <a:srgbClr val="E0E6E1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2913736" y="3977640"/>
            <a:ext cx="1170432" cy="1417320"/>
          </a:xfrm>
          <a:prstGeom prst="roundRect">
            <a:avLst>
              <a:gd name="adj" fmla="val 6250"/>
            </a:avLst>
          </a:prstGeom>
          <a:solidFill>
            <a:srgbClr val="F6F8F6"/>
          </a:solidFill>
          <a:ln w="12700">
            <a:solidFill>
              <a:srgbClr val="E0E6E1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2920" y="4142232"/>
            <a:ext cx="512064" cy="51206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2868016" y="4754880"/>
            <a:ext cx="1261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2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4797400" y="3108960"/>
            <a:ext cx="0" cy="457200"/>
          </a:xfrm>
          <a:prstGeom prst="line">
            <a:avLst/>
          </a:prstGeom>
          <a:noFill/>
          <a:ln w="25400">
            <a:solidFill>
              <a:srgbClr val="E0E6E1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4212184" y="3977640"/>
            <a:ext cx="1170432" cy="1417320"/>
          </a:xfrm>
          <a:prstGeom prst="roundRect">
            <a:avLst>
              <a:gd name="adj" fmla="val 6250"/>
            </a:avLst>
          </a:prstGeom>
          <a:solidFill>
            <a:srgbClr val="F6F8F6"/>
          </a:solidFill>
          <a:ln w="12700">
            <a:solidFill>
              <a:srgbClr val="E0E6E1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1368" y="4142232"/>
            <a:ext cx="512064" cy="51206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4166464" y="4754880"/>
            <a:ext cx="1261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2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950" dirty="0"/>
          </a:p>
        </p:txBody>
      </p:sp>
      <p:sp>
        <p:nvSpPr>
          <p:cNvPr id="25" name="Shape 19"/>
          <p:cNvSpPr/>
          <p:nvPr/>
        </p:nvSpPr>
        <p:spPr>
          <a:xfrm>
            <a:off x="6095848" y="3108960"/>
            <a:ext cx="0" cy="457200"/>
          </a:xfrm>
          <a:prstGeom prst="line">
            <a:avLst/>
          </a:prstGeom>
          <a:noFill/>
          <a:ln w="25400">
            <a:solidFill>
              <a:srgbClr val="E0E6E1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5510632" y="3977640"/>
            <a:ext cx="1170432" cy="1417320"/>
          </a:xfrm>
          <a:prstGeom prst="roundRect">
            <a:avLst>
              <a:gd name="adj" fmla="val 6250"/>
            </a:avLst>
          </a:prstGeom>
          <a:solidFill>
            <a:srgbClr val="F6F8F6"/>
          </a:solidFill>
          <a:ln w="12700">
            <a:solidFill>
              <a:srgbClr val="E0E6E1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9816" y="4142232"/>
            <a:ext cx="512064" cy="512064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464912" y="4754880"/>
            <a:ext cx="1261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2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Afforestation</a:t>
            </a:r>
            <a:endParaRPr lang="en-US" sz="950" dirty="0"/>
          </a:p>
        </p:txBody>
      </p:sp>
      <p:sp>
        <p:nvSpPr>
          <p:cNvPr id="29" name="Shape 22"/>
          <p:cNvSpPr/>
          <p:nvPr/>
        </p:nvSpPr>
        <p:spPr>
          <a:xfrm>
            <a:off x="7394296" y="3108960"/>
            <a:ext cx="0" cy="457200"/>
          </a:xfrm>
          <a:prstGeom prst="line">
            <a:avLst/>
          </a:prstGeom>
          <a:noFill/>
          <a:ln w="25400">
            <a:solidFill>
              <a:srgbClr val="E0E6E1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6809080" y="3977640"/>
            <a:ext cx="1170432" cy="1417320"/>
          </a:xfrm>
          <a:prstGeom prst="roundRect">
            <a:avLst>
              <a:gd name="adj" fmla="val 6250"/>
            </a:avLst>
          </a:prstGeom>
          <a:solidFill>
            <a:srgbClr val="F6F8F6"/>
          </a:solidFill>
          <a:ln w="12700">
            <a:solidFill>
              <a:srgbClr val="E0E6E1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8264" y="4142232"/>
            <a:ext cx="512064" cy="512064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6763360" y="4754880"/>
            <a:ext cx="1261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2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Volunteer</a:t>
            </a:r>
            <a:endParaRPr lang="en-US" sz="950" dirty="0"/>
          </a:p>
        </p:txBody>
      </p:sp>
      <p:sp>
        <p:nvSpPr>
          <p:cNvPr id="33" name="Shape 25"/>
          <p:cNvSpPr/>
          <p:nvPr/>
        </p:nvSpPr>
        <p:spPr>
          <a:xfrm>
            <a:off x="8692744" y="3108960"/>
            <a:ext cx="0" cy="457200"/>
          </a:xfrm>
          <a:prstGeom prst="line">
            <a:avLst/>
          </a:prstGeom>
          <a:noFill/>
          <a:ln w="25400">
            <a:solidFill>
              <a:srgbClr val="E0E6E1"/>
            </a:solidFill>
            <a:prstDash val="solid"/>
          </a:ln>
        </p:spPr>
      </p:sp>
      <p:sp>
        <p:nvSpPr>
          <p:cNvPr id="34" name="Shape 26"/>
          <p:cNvSpPr/>
          <p:nvPr/>
        </p:nvSpPr>
        <p:spPr>
          <a:xfrm>
            <a:off x="8107528" y="3977640"/>
            <a:ext cx="1170432" cy="1417320"/>
          </a:xfrm>
          <a:prstGeom prst="roundRect">
            <a:avLst>
              <a:gd name="adj" fmla="val 6250"/>
            </a:avLst>
          </a:prstGeom>
          <a:solidFill>
            <a:srgbClr val="F6F8F6"/>
          </a:solidFill>
          <a:ln w="12700">
            <a:solidFill>
              <a:srgbClr val="E0E6E1"/>
            </a:solidFill>
            <a:prstDash val="solid"/>
          </a:ln>
        </p:spPr>
      </p:sp>
      <p:pic>
        <p:nvPicPr>
          <p:cNvPr id="3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36712" y="4142232"/>
            <a:ext cx="512064" cy="512064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8061808" y="4754880"/>
            <a:ext cx="1261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2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Agriculture</a:t>
            </a:r>
            <a:endParaRPr lang="en-US" sz="950" dirty="0"/>
          </a:p>
        </p:txBody>
      </p:sp>
      <p:sp>
        <p:nvSpPr>
          <p:cNvPr id="37" name="Shape 28"/>
          <p:cNvSpPr/>
          <p:nvPr/>
        </p:nvSpPr>
        <p:spPr>
          <a:xfrm>
            <a:off x="9991192" y="3108960"/>
            <a:ext cx="0" cy="457200"/>
          </a:xfrm>
          <a:prstGeom prst="line">
            <a:avLst/>
          </a:prstGeom>
          <a:noFill/>
          <a:ln w="25400">
            <a:solidFill>
              <a:srgbClr val="E0E6E1"/>
            </a:solidFill>
            <a:prstDash val="solid"/>
          </a:ln>
        </p:spPr>
      </p:sp>
      <p:sp>
        <p:nvSpPr>
          <p:cNvPr id="38" name="Shape 29"/>
          <p:cNvSpPr/>
          <p:nvPr/>
        </p:nvSpPr>
        <p:spPr>
          <a:xfrm>
            <a:off x="9405976" y="3977640"/>
            <a:ext cx="1170432" cy="1417320"/>
          </a:xfrm>
          <a:prstGeom prst="roundRect">
            <a:avLst>
              <a:gd name="adj" fmla="val 6250"/>
            </a:avLst>
          </a:prstGeom>
          <a:solidFill>
            <a:srgbClr val="F6F8F6"/>
          </a:solidFill>
          <a:ln w="12700">
            <a:solidFill>
              <a:srgbClr val="E0E6E1"/>
            </a:solidFill>
            <a:prstDash val="solid"/>
          </a:ln>
        </p:spPr>
      </p:sp>
      <p:pic>
        <p:nvPicPr>
          <p:cNvPr id="3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35160" y="4142232"/>
            <a:ext cx="512064" cy="512064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9360256" y="4754880"/>
            <a:ext cx="1261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2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Biodiversity</a:t>
            </a:r>
            <a:endParaRPr lang="en-US" sz="950" dirty="0"/>
          </a:p>
        </p:txBody>
      </p:sp>
      <p:sp>
        <p:nvSpPr>
          <p:cNvPr id="41" name="Shape 31"/>
          <p:cNvSpPr/>
          <p:nvPr/>
        </p:nvSpPr>
        <p:spPr>
          <a:xfrm>
            <a:off x="11289640" y="3108960"/>
            <a:ext cx="0" cy="457200"/>
          </a:xfrm>
          <a:prstGeom prst="line">
            <a:avLst/>
          </a:prstGeom>
          <a:noFill/>
          <a:ln w="25400">
            <a:solidFill>
              <a:srgbClr val="E0E6E1"/>
            </a:solidFill>
            <a:prstDash val="solid"/>
          </a:ln>
        </p:spPr>
      </p:sp>
      <p:sp>
        <p:nvSpPr>
          <p:cNvPr id="42" name="Shape 32"/>
          <p:cNvSpPr/>
          <p:nvPr/>
        </p:nvSpPr>
        <p:spPr>
          <a:xfrm>
            <a:off x="10704424" y="3977640"/>
            <a:ext cx="1170432" cy="1417320"/>
          </a:xfrm>
          <a:prstGeom prst="roundRect">
            <a:avLst>
              <a:gd name="adj" fmla="val 6250"/>
            </a:avLst>
          </a:prstGeom>
          <a:solidFill>
            <a:srgbClr val="F6F8F6"/>
          </a:solidFill>
          <a:ln w="12700">
            <a:solidFill>
              <a:srgbClr val="E0E6E1"/>
            </a:solidFill>
            <a:prstDash val="solid"/>
          </a:ln>
        </p:spPr>
      </p:sp>
      <p:pic>
        <p:nvPicPr>
          <p:cNvPr id="43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033608" y="4142232"/>
            <a:ext cx="512064" cy="512064"/>
          </a:xfrm>
          <a:prstGeom prst="rect">
            <a:avLst/>
          </a:prstGeom>
        </p:spPr>
      </p:pic>
      <p:sp>
        <p:nvSpPr>
          <p:cNvPr id="44" name="Text 33"/>
          <p:cNvSpPr txBox="1"/>
          <p:nvPr/>
        </p:nvSpPr>
        <p:spPr>
          <a:xfrm>
            <a:off x="10658704" y="4754880"/>
            <a:ext cx="1261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2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Disaster</a:t>
            </a:r>
            <a:endParaRPr lang="en-US" sz="950" dirty="0"/>
          </a:p>
        </p:txBody>
      </p:sp>
      <p:sp>
        <p:nvSpPr>
          <p:cNvPr id="45" name="Text 34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module = module.json manifest + optional models/router. The core discovers and mounts it at startup -- adding “flood-monitoring” never touches core code.</a:t>
            </a:r>
            <a:endParaRPr lang="en-US" sz="1200" dirty="0"/>
          </a:p>
        </p:txBody>
      </p:sp>
      <p:sp>
        <p:nvSpPr>
          <p:cNvPr id="46" name="Text 35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Nellai Green &amp; Civic</a:t>
            </a:r>
            <a:endParaRPr lang="en-US" sz="1000" dirty="0"/>
          </a:p>
        </p:txBody>
      </p:sp>
      <p:sp>
        <p:nvSpPr>
          <p:cNvPr id="47" name="Text 36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Stack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6F8F6"/>
          </a:solidFill>
          <a:ln w="12700">
            <a:solidFill>
              <a:srgbClr val="E0E6E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43100" y="1874520"/>
            <a:ext cx="731520" cy="731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269748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C2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Backend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30175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3.11, FastAPI, SQLAlchemy 2 (async), Alembic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325112" y="160020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6F8F6"/>
          </a:solidFill>
          <a:ln w="12700">
            <a:solidFill>
              <a:srgbClr val="E0E6E1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9572" y="1874520"/>
            <a:ext cx="731520" cy="7315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07992" y="269748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C2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4553712" y="30175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15 + PostGIS -- every location is a real geometry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8101584" y="160020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6F8F6"/>
          </a:solidFill>
          <a:ln w="12700">
            <a:solidFill>
              <a:srgbClr val="E0E6E1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6044" y="1874520"/>
            <a:ext cx="731520" cy="7315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284464" y="269748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C2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Service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8330184" y="30175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sentence-transformers (zero-shot text) + torchvision (image signal), standalone microservice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548640" y="374904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6F8F6"/>
          </a:solidFill>
          <a:ln w="12700">
            <a:solidFill>
              <a:srgbClr val="E0E6E1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43100" y="4023360"/>
            <a:ext cx="731520" cy="7315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31520" y="484632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C2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App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777240" y="516636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18, TypeScript, Vite, Leaflet, Recharts</a:t>
            </a:r>
            <a:endParaRPr lang="en-US" sz="1000" dirty="0"/>
          </a:p>
        </p:txBody>
      </p:sp>
      <p:sp>
        <p:nvSpPr>
          <p:cNvPr id="19" name="Shape 13"/>
          <p:cNvSpPr/>
          <p:nvPr/>
        </p:nvSpPr>
        <p:spPr>
          <a:xfrm>
            <a:off x="4325112" y="374904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6F8F6"/>
          </a:solidFill>
          <a:ln w="12700">
            <a:solidFill>
              <a:srgbClr val="E0E6E1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9572" y="4023360"/>
            <a:ext cx="731520" cy="7315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4507992" y="484632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C2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Mobile App</a:t>
            </a:r>
            <a:endParaRPr lang="en-US" sz="1500" dirty="0"/>
          </a:p>
        </p:txBody>
      </p:sp>
      <p:sp>
        <p:nvSpPr>
          <p:cNvPr id="22" name="Text 15"/>
          <p:cNvSpPr txBox="1"/>
          <p:nvPr/>
        </p:nvSpPr>
        <p:spPr>
          <a:xfrm>
            <a:off x="4553712" y="516636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/ Dart -- Android first, iOS-ready</a:t>
            </a:r>
            <a:endParaRPr lang="en-US" sz="1000" dirty="0"/>
          </a:p>
        </p:txBody>
      </p:sp>
      <p:sp>
        <p:nvSpPr>
          <p:cNvPr id="23" name="Shape 16"/>
          <p:cNvSpPr/>
          <p:nvPr/>
        </p:nvSpPr>
        <p:spPr>
          <a:xfrm>
            <a:off x="8101584" y="374904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6F8F6"/>
          </a:solidFill>
          <a:ln w="12700">
            <a:solidFill>
              <a:srgbClr val="E0E6E1"/>
            </a:solidFill>
            <a:prstDash val="solid"/>
          </a:ln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96044" y="4023360"/>
            <a:ext cx="731520" cy="73152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8284464" y="484632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C2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DevOps</a:t>
            </a:r>
            <a:endParaRPr lang="en-US" sz="1500" dirty="0"/>
          </a:p>
        </p:txBody>
      </p:sp>
      <p:sp>
        <p:nvSpPr>
          <p:cNvPr id="26" name="Text 18"/>
          <p:cNvSpPr txBox="1"/>
          <p:nvPr/>
        </p:nvSpPr>
        <p:spPr>
          <a:xfrm>
            <a:off x="8330184" y="516636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Compose, GitHub Actions CI, Apache-2.0 licensed</a:t>
            </a:r>
            <a:endParaRPr lang="en-US" sz="1000" dirty="0"/>
          </a:p>
        </p:txBody>
      </p:sp>
      <p:sp>
        <p:nvSpPr>
          <p:cNvPr id="27" name="Text 1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Nellai Green &amp; Civic</a:t>
            </a:r>
            <a:endParaRPr lang="en-US" sz="1000" dirty="0"/>
          </a:p>
        </p:txBody>
      </p:sp>
      <p:sp>
        <p:nvSpPr>
          <p:cNvPr id="28" name="Text 20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Engine: Complaint Lifecycle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generic workflow, shared by every reporting module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86004" y="2011680"/>
            <a:ext cx="1298448" cy="777240"/>
          </a:xfrm>
          <a:prstGeom prst="roundRect">
            <a:avLst>
              <a:gd name="adj" fmla="val 9412"/>
            </a:avLst>
          </a:prstGeom>
          <a:solidFill>
            <a:srgbClr val="F6F8F6"/>
          </a:solidFill>
          <a:ln w="15240">
            <a:solidFill>
              <a:srgbClr val="E0E6E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40284" y="2011680"/>
            <a:ext cx="13898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2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9024" y="2267712"/>
            <a:ext cx="118872" cy="11887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903324" y="2011680"/>
            <a:ext cx="1298448" cy="777240"/>
          </a:xfrm>
          <a:prstGeom prst="roundRect">
            <a:avLst>
              <a:gd name="adj" fmla="val 9412"/>
            </a:avLst>
          </a:prstGeom>
          <a:solidFill>
            <a:srgbClr val="F6F8F6"/>
          </a:solidFill>
          <a:ln w="15240">
            <a:solidFill>
              <a:srgbClr val="E0E6E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857604" y="2011680"/>
            <a:ext cx="13898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2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AI_ANALYZED</a:t>
            </a:r>
            <a:endParaRPr lang="en-US" sz="9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6344" y="2267712"/>
            <a:ext cx="118872" cy="11887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320644" y="2011680"/>
            <a:ext cx="1298448" cy="777240"/>
          </a:xfrm>
          <a:prstGeom prst="roundRect">
            <a:avLst>
              <a:gd name="adj" fmla="val 9412"/>
            </a:avLst>
          </a:prstGeom>
          <a:solidFill>
            <a:srgbClr val="F6F8F6"/>
          </a:solidFill>
          <a:ln w="15240">
            <a:solidFill>
              <a:srgbClr val="E0E6E1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274924" y="2011680"/>
            <a:ext cx="13898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2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ASSIGNED</a:t>
            </a:r>
            <a:endParaRPr lang="en-US" sz="9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3664" y="2267712"/>
            <a:ext cx="118872" cy="11887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737964" y="2011680"/>
            <a:ext cx="1298448" cy="777240"/>
          </a:xfrm>
          <a:prstGeom prst="roundRect">
            <a:avLst>
              <a:gd name="adj" fmla="val 9412"/>
            </a:avLst>
          </a:prstGeom>
          <a:solidFill>
            <a:srgbClr val="F6F8F6"/>
          </a:solidFill>
          <a:ln w="15240">
            <a:solidFill>
              <a:srgbClr val="E0E6E1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4692244" y="2011680"/>
            <a:ext cx="13898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2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ACKNOWLEDGED</a:t>
            </a:r>
            <a:endParaRPr lang="en-US" sz="9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0984" y="2267712"/>
            <a:ext cx="118872" cy="118872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155284" y="2011680"/>
            <a:ext cx="1298448" cy="777240"/>
          </a:xfrm>
          <a:prstGeom prst="roundRect">
            <a:avLst>
              <a:gd name="adj" fmla="val 9412"/>
            </a:avLst>
          </a:prstGeom>
          <a:solidFill>
            <a:srgbClr val="F6F8F6"/>
          </a:solidFill>
          <a:ln w="15240">
            <a:solidFill>
              <a:srgbClr val="E0E6E1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6109564" y="2011680"/>
            <a:ext cx="13898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2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IN_PROGRESS</a:t>
            </a:r>
            <a:endParaRPr lang="en-US" sz="9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8304" y="2267712"/>
            <a:ext cx="118872" cy="118872"/>
          </a:xfrm>
          <a:prstGeom prst="rect">
            <a:avLst/>
          </a:prstGeom>
        </p:spPr>
      </p:pic>
      <p:sp>
        <p:nvSpPr>
          <p:cNvPr id="19" name="Shape 12"/>
          <p:cNvSpPr/>
          <p:nvPr/>
        </p:nvSpPr>
        <p:spPr>
          <a:xfrm>
            <a:off x="7572604" y="2011680"/>
            <a:ext cx="1298448" cy="777240"/>
          </a:xfrm>
          <a:prstGeom prst="roundRect">
            <a:avLst>
              <a:gd name="adj" fmla="val 9412"/>
            </a:avLst>
          </a:prstGeom>
          <a:solidFill>
            <a:srgbClr val="F6F8F6"/>
          </a:solidFill>
          <a:ln w="15240">
            <a:solidFill>
              <a:srgbClr val="E0E6E1"/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7526884" y="2011680"/>
            <a:ext cx="13898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2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RESOLVED</a:t>
            </a:r>
            <a:endParaRPr lang="en-US" sz="90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75624" y="2267712"/>
            <a:ext cx="118872" cy="118872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8989924" y="2011680"/>
            <a:ext cx="1298448" cy="777240"/>
          </a:xfrm>
          <a:prstGeom prst="roundRect">
            <a:avLst>
              <a:gd name="adj" fmla="val 9412"/>
            </a:avLst>
          </a:prstGeom>
          <a:solidFill>
            <a:srgbClr val="F6F8F6"/>
          </a:solidFill>
          <a:ln w="15240">
            <a:solidFill>
              <a:srgbClr val="E0E6E1"/>
            </a:solidFill>
            <a:prstDash val="solid"/>
          </a:ln>
        </p:spPr>
      </p:sp>
      <p:sp>
        <p:nvSpPr>
          <p:cNvPr id="23" name="Text 15"/>
          <p:cNvSpPr txBox="1"/>
          <p:nvPr/>
        </p:nvSpPr>
        <p:spPr>
          <a:xfrm>
            <a:off x="8944204" y="2011680"/>
            <a:ext cx="13898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2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</a:t>
            </a:r>
            <a:endParaRPr lang="en-US" sz="900" dirty="0"/>
          </a:p>
        </p:txBody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92944" y="2267712"/>
            <a:ext cx="118872" cy="118872"/>
          </a:xfrm>
          <a:prstGeom prst="rect">
            <a:avLst/>
          </a:prstGeom>
        </p:spPr>
      </p:pic>
      <p:sp>
        <p:nvSpPr>
          <p:cNvPr id="25" name="Shape 16"/>
          <p:cNvSpPr/>
          <p:nvPr/>
        </p:nvSpPr>
        <p:spPr>
          <a:xfrm>
            <a:off x="10407244" y="2011680"/>
            <a:ext cx="1298448" cy="777240"/>
          </a:xfrm>
          <a:prstGeom prst="roundRect">
            <a:avLst>
              <a:gd name="adj" fmla="val 9412"/>
            </a:avLst>
          </a:prstGeom>
          <a:solidFill>
            <a:srgbClr val="1A7A4C"/>
          </a:solidFill>
          <a:ln w="15240">
            <a:solidFill>
              <a:srgbClr val="1A7A4C"/>
            </a:solidFill>
            <a:prstDash val="solid"/>
          </a:ln>
        </p:spPr>
      </p:sp>
      <p:sp>
        <p:nvSpPr>
          <p:cNvPr id="26" name="Text 17"/>
          <p:cNvSpPr txBox="1"/>
          <p:nvPr/>
        </p:nvSpPr>
        <p:spPr>
          <a:xfrm>
            <a:off x="10361524" y="2011680"/>
            <a:ext cx="13898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</a:t>
            </a:r>
            <a:endParaRPr lang="en-US" sz="900" dirty="0"/>
          </a:p>
        </p:txBody>
      </p:sp>
      <p:sp>
        <p:nvSpPr>
          <p:cNvPr id="27" name="Shape 18"/>
          <p:cNvSpPr/>
          <p:nvPr/>
        </p:nvSpPr>
        <p:spPr>
          <a:xfrm>
            <a:off x="486004" y="3246120"/>
            <a:ext cx="2743200" cy="640080"/>
          </a:xfrm>
          <a:prstGeom prst="roundRect">
            <a:avLst>
              <a:gd name="adj" fmla="val 11429"/>
            </a:avLst>
          </a:prstGeom>
          <a:solidFill>
            <a:srgbClr val="FBE7E4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8" name="Text 19"/>
          <p:cNvSpPr txBox="1"/>
          <p:nvPr/>
        </p:nvSpPr>
        <p:spPr>
          <a:xfrm>
            <a:off x="486004" y="32461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</a:t>
            </a:r>
            <a:endParaRPr lang="en-US" sz="1000" dirty="0"/>
          </a:p>
        </p:txBody>
      </p:sp>
      <p:sp>
        <p:nvSpPr>
          <p:cNvPr id="29" name="Text 20"/>
          <p:cNvSpPr txBox="1"/>
          <p:nvPr/>
        </p:nvSpPr>
        <p:spPr>
          <a:xfrm>
            <a:off x="3412084" y="3383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(with a stored reason, at any stage before CLOSED)</a:t>
            </a:r>
            <a:endParaRPr lang="en-US" sz="1050" dirty="0"/>
          </a:p>
        </p:txBody>
      </p:sp>
      <p:sp>
        <p:nvSpPr>
          <p:cNvPr id="30" name="Shape 21"/>
          <p:cNvSpPr/>
          <p:nvPr/>
        </p:nvSpPr>
        <p:spPr>
          <a:xfrm>
            <a:off x="486004" y="4160520"/>
            <a:ext cx="3566160" cy="640080"/>
          </a:xfrm>
          <a:prstGeom prst="roundRect">
            <a:avLst>
              <a:gd name="adj" fmla="val 11429"/>
            </a:avLst>
          </a:prstGeom>
          <a:solidFill>
            <a:srgbClr val="FDF1E0"/>
          </a:solidFill>
          <a:ln w="12700">
            <a:solidFill>
              <a:srgbClr val="B9791A"/>
            </a:solidFill>
            <a:prstDash val="solid"/>
          </a:ln>
        </p:spPr>
      </p:sp>
      <p:sp>
        <p:nvSpPr>
          <p:cNvPr id="31" name="Text 22"/>
          <p:cNvSpPr txBox="1"/>
          <p:nvPr/>
        </p:nvSpPr>
        <p:spPr>
          <a:xfrm>
            <a:off x="486004" y="41605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97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→ REOPENED → IN_PROGRESS</a:t>
            </a:r>
            <a:endParaRPr lang="en-US" sz="950" dirty="0"/>
          </a:p>
        </p:txBody>
      </p:sp>
      <p:sp>
        <p:nvSpPr>
          <p:cNvPr id="32" name="Text 23"/>
          <p:cNvSpPr txBox="1"/>
          <p:nvPr/>
        </p:nvSpPr>
        <p:spPr>
          <a:xfrm>
            <a:off x="4235044" y="42976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citizen rejects the resolution</a:t>
            </a:r>
            <a:endParaRPr lang="en-US" sz="1050" dirty="0"/>
          </a:p>
        </p:txBody>
      </p:sp>
      <p:sp>
        <p:nvSpPr>
          <p:cNvPr id="33" name="Text 24"/>
          <p:cNvSpPr txBox="1"/>
          <p:nvPr/>
        </p:nvSpPr>
        <p:spPr>
          <a:xfrm>
            <a:off x="486004" y="5212080"/>
            <a:ext cx="112196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live: </a:t>
            </a:r>
            <a:pPr indent="0" marL="0">
              <a:buNone/>
            </a:pPr>
            <a:r>
              <a:rPr lang="en-US" sz="12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citizen-filed DRAIN_BLOCKAGE report was auto-classified, matched to a boundary, assigned to the configured authority, and given a working-day deadline -- end to end, no manual step.</a:t>
            </a:r>
            <a:endParaRPr lang="en-US" sz="1200" dirty="0"/>
          </a:p>
        </p:txBody>
      </p:sp>
      <p:sp>
        <p:nvSpPr>
          <p:cNvPr id="34" name="Text 25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Nellai Green &amp; Civic</a:t>
            </a:r>
            <a:endParaRPr lang="en-US" sz="1000" dirty="0"/>
          </a:p>
        </p:txBody>
      </p:sp>
      <p:sp>
        <p:nvSpPr>
          <p:cNvPr id="35" name="Text 26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GIS-Based Authority Assignment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data, not a hard-coded office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78028" y="1828800"/>
            <a:ext cx="2468880" cy="2286000"/>
          </a:xfrm>
          <a:prstGeom prst="roundRect">
            <a:avLst>
              <a:gd name="adj" fmla="val 4000"/>
            </a:avLst>
          </a:prstGeom>
          <a:solidFill>
            <a:srgbClr val="F6F8F6"/>
          </a:solidFill>
          <a:ln w="12700">
            <a:solidFill>
              <a:srgbClr val="E0E6E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2428" y="2057400"/>
            <a:ext cx="640080" cy="6400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15188" y="2834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C2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GPS point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860908" y="32004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Citizen's complaint location (lat/lng)</a:t>
            </a:r>
            <a:endParaRPr lang="en-US" sz="10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0060" y="2880360"/>
            <a:ext cx="201168" cy="20116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466948" y="1828800"/>
            <a:ext cx="2468880" cy="2286000"/>
          </a:xfrm>
          <a:prstGeom prst="roundRect">
            <a:avLst>
              <a:gd name="adj" fmla="val 4000"/>
            </a:avLst>
          </a:prstGeom>
          <a:solidFill>
            <a:srgbClr val="F6F8F6"/>
          </a:solidFill>
          <a:ln w="12700">
            <a:solidFill>
              <a:srgbClr val="E0E6E1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348" y="2057400"/>
            <a:ext cx="640080" cy="6400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604108" y="2834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C2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Boundary lookup</a:t>
            </a:r>
            <a:endParaRPr lang="en-US" sz="1350" dirty="0"/>
          </a:p>
        </p:txBody>
      </p:sp>
      <p:sp>
        <p:nvSpPr>
          <p:cNvPr id="12" name="Text 7"/>
          <p:cNvSpPr txBox="1"/>
          <p:nvPr/>
        </p:nvSpPr>
        <p:spPr>
          <a:xfrm>
            <a:off x="3649828" y="32004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PostGIS point-in-polygon finds the containing village/town/ward</a:t>
            </a:r>
            <a:endParaRPr lang="en-US" sz="10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8980" y="2880360"/>
            <a:ext cx="201168" cy="201168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255868" y="1828800"/>
            <a:ext cx="2468880" cy="2286000"/>
          </a:xfrm>
          <a:prstGeom prst="roundRect">
            <a:avLst>
              <a:gd name="adj" fmla="val 4000"/>
            </a:avLst>
          </a:prstGeom>
          <a:solidFill>
            <a:srgbClr val="F6F8F6"/>
          </a:solidFill>
          <a:ln w="12700">
            <a:solidFill>
              <a:srgbClr val="E0E6E1"/>
            </a:solidFill>
            <a:prstDash val="solid"/>
          </a:ln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0268" y="2057400"/>
            <a:ext cx="640080" cy="64008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6393028" y="2834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C2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Responsibility map</a:t>
            </a:r>
            <a:endParaRPr lang="en-US" sz="1350" dirty="0"/>
          </a:p>
        </p:txBody>
      </p:sp>
      <p:sp>
        <p:nvSpPr>
          <p:cNvPr id="17" name="Text 10"/>
          <p:cNvSpPr txBox="1"/>
          <p:nvPr/>
        </p:nvSpPr>
        <p:spPr>
          <a:xfrm>
            <a:off x="6438748" y="32004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Admin-configured: category (+ boundary level) → authority</a:t>
            </a:r>
            <a:endParaRPr lang="en-US" sz="100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97900" y="2880360"/>
            <a:ext cx="201168" cy="201168"/>
          </a:xfrm>
          <a:prstGeom prst="rect">
            <a:avLst/>
          </a:prstGeom>
        </p:spPr>
      </p:pic>
      <p:sp>
        <p:nvSpPr>
          <p:cNvPr id="19" name="Shape 11"/>
          <p:cNvSpPr/>
          <p:nvPr/>
        </p:nvSpPr>
        <p:spPr>
          <a:xfrm>
            <a:off x="9044788" y="1828800"/>
            <a:ext cx="2468880" cy="2286000"/>
          </a:xfrm>
          <a:prstGeom prst="roundRect">
            <a:avLst>
              <a:gd name="adj" fmla="val 4000"/>
            </a:avLst>
          </a:prstGeom>
          <a:solidFill>
            <a:srgbClr val="F6F8F6"/>
          </a:solidFill>
          <a:ln w="12700">
            <a:solidFill>
              <a:srgbClr val="E0E6E1"/>
            </a:solidFill>
            <a:prstDash val="solid"/>
          </a:ln>
        </p:spPr>
      </p:sp>
      <p:pic>
        <p:nvPicPr>
          <p:cNvPr id="2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59188" y="2057400"/>
            <a:ext cx="640080" cy="640080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9181948" y="2834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C2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Authority assigned</a:t>
            </a:r>
            <a:endParaRPr lang="en-US" sz="1350" dirty="0"/>
          </a:p>
        </p:txBody>
      </p:sp>
      <p:sp>
        <p:nvSpPr>
          <p:cNvPr id="22" name="Text 13"/>
          <p:cNvSpPr txBox="1"/>
          <p:nvPr/>
        </p:nvSpPr>
        <p:spPr>
          <a:xfrm>
            <a:off x="9227668" y="32004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 working-day deadline from the matching escalation rule</a:t>
            </a:r>
            <a:endParaRPr lang="en-US" sz="1000" dirty="0"/>
          </a:p>
        </p:txBody>
      </p:sp>
      <p:sp>
        <p:nvSpPr>
          <p:cNvPr id="23" name="Text 14"/>
          <p:cNvSpPr txBox="1"/>
          <p:nvPr/>
        </p:nvSpPr>
        <p:spPr>
          <a:xfrm>
            <a:off x="678028" y="4480560"/>
            <a:ext cx="10835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category is ever routed to a fixed office in code. Admins configure Village→Panchayat, Town→Municipality, Urban area→Corporation, or a department override -- entirely through /api/v1/authorities.</a:t>
            </a:r>
            <a:endParaRPr lang="en-US" sz="1200" dirty="0"/>
          </a:p>
        </p:txBody>
      </p:sp>
      <p:sp>
        <p:nvSpPr>
          <p:cNvPr id="24" name="Text 15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Nellai Green &amp; Civic</a:t>
            </a:r>
            <a:endParaRPr lang="en-US" sz="1000" dirty="0"/>
          </a:p>
        </p:txBody>
      </p:sp>
      <p:sp>
        <p:nvSpPr>
          <p:cNvPr id="25" name="Text 16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Automatic Escalation Engine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Working-day aware -- never a naive +72 hours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120640" cy="4206240"/>
          </a:xfrm>
          <a:prstGeom prst="roundRect">
            <a:avLst>
              <a:gd name="adj" fmla="val 2609"/>
            </a:avLst>
          </a:prstGeom>
          <a:solidFill>
            <a:srgbClr val="F6F8F6"/>
          </a:solidFill>
          <a:ln w="12700">
            <a:solidFill>
              <a:srgbClr val="E0E6E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828800"/>
            <a:ext cx="548640" cy="548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08760" y="190195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Deadline calculation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514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23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deadline = </a:t>
            </a:r>
            <a:pPr indent="0" marL="0">
              <a:buNone/>
            </a:pPr>
            <a:r>
              <a:rPr lang="en-US" sz="1200" b="1" dirty="0">
                <a:solidFill>
                  <a:srgbClr val="1A7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add_working_days(now, N)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971800"/>
            <a:ext cx="4526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Skips weekends and an admin-configurable holiday calendar (seeded from India/TN public holidays). </a:t>
            </a:r>
            <a:pPr indent="0" marL="0">
              <a:buNone/>
            </a:pPr>
            <a:r>
              <a:rPr lang="en-US" sz="1150" b="1" dirty="0">
                <a:solidFill>
                  <a:srgbClr val="1A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live: </a:t>
            </a:r>
            <a:pPr indent="0" marL="0">
              <a:buNone/>
            </a:pPr>
            <a:r>
              <a:rPr lang="en-US" sz="115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complaint filed Friday, 3-day deadline, correctly landed the following Wednesday -- skipping Sat/Sun.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68680" y="4343400"/>
            <a:ext cx="4526280" cy="0"/>
          </a:xfrm>
          <a:prstGeom prst="line">
            <a:avLst/>
          </a:prstGeom>
          <a:noFill/>
          <a:ln w="12700">
            <a:solidFill>
              <a:srgbClr val="E0E6E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68680" y="448056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EscalationRule (admin-configurable, per category or default)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4800600"/>
            <a:ext cx="4526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category_code, deadline_days, initial_authority_level, escalation_level_1, escalation_level_2, reminder_before_days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0" y="16002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Escalation ladder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126480" y="2194560"/>
            <a:ext cx="1645920" cy="685800"/>
          </a:xfrm>
          <a:prstGeom prst="roundRect">
            <a:avLst>
              <a:gd name="adj" fmla="val 10667"/>
            </a:avLst>
          </a:prstGeom>
          <a:solidFill>
            <a:srgbClr val="1A7A4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126480" y="219456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BODY</a:t>
            </a:r>
            <a:endParaRPr lang="en-US" sz="95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9832" y="2423160"/>
            <a:ext cx="182880" cy="18288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8001000" y="2194560"/>
            <a:ext cx="1645920" cy="685800"/>
          </a:xfrm>
          <a:prstGeom prst="roundRect">
            <a:avLst>
              <a:gd name="adj" fmla="val 10667"/>
            </a:avLst>
          </a:prstGeom>
          <a:solidFill>
            <a:srgbClr val="E8A33D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8001000" y="219456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LEVEL</a:t>
            </a:r>
            <a:endParaRPr lang="en-US" sz="95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4352" y="2423160"/>
            <a:ext cx="182880" cy="18288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9875520" y="2194560"/>
            <a:ext cx="1645920" cy="685800"/>
          </a:xfrm>
          <a:prstGeom prst="roundRect">
            <a:avLst>
              <a:gd name="adj" fmla="val 10667"/>
            </a:avLst>
          </a:prstGeom>
          <a:solidFill>
            <a:srgbClr val="C0392B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9875520" y="219456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 LEVEL</a:t>
            </a:r>
            <a:endParaRPr lang="en-US" sz="950" dirty="0"/>
          </a:p>
        </p:txBody>
      </p:sp>
      <p:sp>
        <p:nvSpPr>
          <p:cNvPr id="21" name="Text 16"/>
          <p:cNvSpPr txBox="1"/>
          <p:nvPr/>
        </p:nvSpPr>
        <p:spPr>
          <a:xfrm>
            <a:off x="6126480" y="3200400"/>
            <a:ext cx="5394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background sweep (scripts/run_escalation_sweep.py, or a scheduled job) reminds before the deadline and raises the authority level after it -- re-using the same configured responsibility map, never a hard-coded “Collector”.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6126480" y="4663440"/>
            <a:ext cx="5394960" cy="1005840"/>
          </a:xfrm>
          <a:prstGeom prst="roundRect">
            <a:avLst>
              <a:gd name="adj" fmla="val 9091"/>
            </a:avLst>
          </a:prstGeom>
          <a:solidFill>
            <a:srgbClr val="F6F8F6"/>
          </a:solidFill>
          <a:ln w="12700">
            <a:solidFill>
              <a:srgbClr val="E0E6E1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4846320"/>
            <a:ext cx="548640" cy="54864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949440" y="4773168"/>
            <a:ext cx="4434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tighter 1-day default is seeded for FLOOD_REPORT -- disaster-grade urgency is a config value, not special-cased code.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Nellai Green &amp; Civic</a:t>
            </a:r>
            <a:endParaRPr lang="en-US" sz="1000" dirty="0"/>
          </a:p>
        </p:txBody>
      </p:sp>
      <p:sp>
        <p:nvSpPr>
          <p:cNvPr id="26" name="Text 20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AI-Based Complaint Classification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real, lightweight model -- not a mock, and never authoritative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rgbClr val="F6F8F6"/>
          </a:solidFill>
          <a:ln w="12700">
            <a:solidFill>
              <a:srgbClr val="E0E6E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828800"/>
            <a:ext cx="594360" cy="5943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00200" y="19202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Text: zero-shot embedding match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60604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Model: </a:t>
            </a:r>
            <a:pPr indent="0" marL="0">
              <a:buNone/>
            </a:pPr>
            <a:r>
              <a:rPr lang="en-US" sz="115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paraphrase-MiniLM-L3-v2 (~17M params)
</a:t>
            </a:r>
            <a:pPr indent="0" marL="0">
              <a:buNone/>
            </a:pPr>
            <a:r>
              <a:rPr lang="en-US" sz="115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category has a canonical description. The citizen's free-text description is embedded and compared by cosine similarity -- the closest category wins, with a confidence score and severity heuristic from keyword matching.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868680" y="3931920"/>
            <a:ext cx="4754880" cy="0"/>
          </a:xfrm>
          <a:prstGeom prst="line">
            <a:avLst/>
          </a:prstGeom>
          <a:noFill/>
          <a:ln w="12700">
            <a:solidFill>
              <a:srgbClr val="E0E6E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8680" y="40690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Image: pretrained MobileNetV3-Small (auxiliary)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44348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ImageNet labels have no “blocked drain” class, so a curated subset only nudges confidence -- text always carries the primary classification.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51206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A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 microservice (ai/) -- POST /classify. Swappable/scalable independently; if it's down, complaint filing still works.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263640" y="1600200"/>
            <a:ext cx="5349240" cy="4297680"/>
          </a:xfrm>
          <a:prstGeom prst="roundRect">
            <a:avLst>
              <a:gd name="adj" fmla="val 2553"/>
            </a:avLst>
          </a:prstGeom>
          <a:solidFill>
            <a:srgbClr val="135C3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537960" y="181051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LIVE RESULT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6537960" y="219456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drain near my house has been blocked for a week and sewage water is overflowing onto the road”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537960" y="32004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7B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category_code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8686800" y="32004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DRAIN_BLOCKAGE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6537960" y="363931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7B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confidence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686800" y="363931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1.0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6537960" y="407822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7B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severity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8686800" y="407822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6537960" y="451713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7B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 match #2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8686800" y="45171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CANAL_BLOCKAGE (0.62)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6537960" y="5184648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Correctly identified the category and escalated severity purely from the keywords “overflowing” / “sewage” -- genuine inference, run against the live AI microservice.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Nellai Green &amp; Civic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Duplicate Detection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for review -- never auto-deletes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0868" y="1737360"/>
            <a:ext cx="2606040" cy="1737360"/>
          </a:xfrm>
          <a:prstGeom prst="roundRect">
            <a:avLst>
              <a:gd name="adj" fmla="val 5263"/>
            </a:avLst>
          </a:prstGeom>
          <a:solidFill>
            <a:srgbClr val="F6F8F6"/>
          </a:solidFill>
          <a:ln w="12700">
            <a:solidFill>
              <a:srgbClr val="E0E6E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280" y="1965960"/>
            <a:ext cx="585216" cy="5852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78028" y="26517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2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GPS proximity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723748" y="2971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PostGIS ST_DWithin, 75m radius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375508" y="1737360"/>
            <a:ext cx="2606040" cy="1737360"/>
          </a:xfrm>
          <a:prstGeom prst="roundRect">
            <a:avLst>
              <a:gd name="adj" fmla="val 5263"/>
            </a:avLst>
          </a:prstGeom>
          <a:solidFill>
            <a:srgbClr val="F6F8F6"/>
          </a:solidFill>
          <a:ln w="12700">
            <a:solidFill>
              <a:srgbClr val="E0E6E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5920" y="1965960"/>
            <a:ext cx="585216" cy="58521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512668" y="26517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2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category</a:t>
            </a:r>
            <a:endParaRPr lang="en-US" sz="1250" dirty="0"/>
          </a:p>
        </p:txBody>
      </p:sp>
      <p:sp>
        <p:nvSpPr>
          <p:cNvPr id="11" name="Text 7"/>
          <p:cNvSpPr txBox="1"/>
          <p:nvPr/>
        </p:nvSpPr>
        <p:spPr>
          <a:xfrm>
            <a:off x="3558388" y="2971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compares like-for-like reports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210148" y="1737360"/>
            <a:ext cx="2606040" cy="1737360"/>
          </a:xfrm>
          <a:prstGeom prst="roundRect">
            <a:avLst>
              <a:gd name="adj" fmla="val 5263"/>
            </a:avLst>
          </a:prstGeom>
          <a:solidFill>
            <a:srgbClr val="F6F8F6"/>
          </a:solidFill>
          <a:ln w="12700">
            <a:solidFill>
              <a:srgbClr val="E0E6E1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0560" y="1965960"/>
            <a:ext cx="585216" cy="58521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347308" y="26517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2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 window</a:t>
            </a:r>
            <a:endParaRPr lang="en-US" sz="1250" dirty="0"/>
          </a:p>
        </p:txBody>
      </p:sp>
      <p:sp>
        <p:nvSpPr>
          <p:cNvPr id="15" name="Text 10"/>
          <p:cNvSpPr txBox="1"/>
          <p:nvPr/>
        </p:nvSpPr>
        <p:spPr>
          <a:xfrm>
            <a:off x="6393028" y="2971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within 72 hours of each other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9044788" y="1737360"/>
            <a:ext cx="2606040" cy="1737360"/>
          </a:xfrm>
          <a:prstGeom prst="roundRect">
            <a:avLst>
              <a:gd name="adj" fmla="val 5263"/>
            </a:avLst>
          </a:prstGeom>
          <a:solidFill>
            <a:srgbClr val="F6F8F6"/>
          </a:solidFill>
          <a:ln w="12700">
            <a:solidFill>
              <a:srgbClr val="E0E6E1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5200" y="1965960"/>
            <a:ext cx="585216" cy="58521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181948" y="26517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2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Text similarity</a:t>
            </a:r>
            <a:endParaRPr lang="en-US" sz="1250" dirty="0"/>
          </a:p>
        </p:txBody>
      </p:sp>
      <p:sp>
        <p:nvSpPr>
          <p:cNvPr id="19" name="Text 13"/>
          <p:cNvSpPr txBox="1"/>
          <p:nvPr/>
        </p:nvSpPr>
        <p:spPr>
          <a:xfrm>
            <a:off x="9227668" y="2971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pg_trgm similarity() on the description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40868" y="3886200"/>
            <a:ext cx="11109960" cy="1371600"/>
          </a:xfrm>
          <a:prstGeom prst="roundRect">
            <a:avLst>
              <a:gd name="adj" fmla="val 6667"/>
            </a:avLst>
          </a:prstGeom>
          <a:solidFill>
            <a:srgbClr val="FDF1E0"/>
          </a:solidFill>
          <a:ln w="12700">
            <a:solidFill>
              <a:srgbClr val="B9791A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860908" y="4069080"/>
            <a:ext cx="10469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7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score ≥ threshold → “Possible duplicate” shown to admins, who can merge (POST /complaints/{id}/merge/{target_id}). The original report is always preserved.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Nellai Green &amp; Civic</a:t>
            </a:r>
            <a:endParaRPr lang="en-US" sz="1000" dirty="0"/>
          </a:p>
        </p:txBody>
      </p:sp>
      <p:sp>
        <p:nvSpPr>
          <p:cNvPr id="23" name="Text 17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Feature Modules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built and running -- civic core to environmental science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59156" y="1554480"/>
            <a:ext cx="3520440" cy="1417320"/>
          </a:xfrm>
          <a:prstGeom prst="roundRect">
            <a:avLst>
              <a:gd name="adj" fmla="val 6452"/>
            </a:avLst>
          </a:prstGeom>
          <a:solidFill>
            <a:srgbClr val="F6F8F6"/>
          </a:solidFill>
          <a:ln w="12700">
            <a:solidFill>
              <a:srgbClr val="E0E6E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324" y="1828800"/>
            <a:ext cx="566928" cy="56692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73556" y="173736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Civic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473556" y="2084832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 damage, streetlights, public toilets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4335628" y="1554480"/>
            <a:ext cx="3520440" cy="1417320"/>
          </a:xfrm>
          <a:prstGeom prst="roundRect">
            <a:avLst>
              <a:gd name="adj" fmla="val 6452"/>
            </a:avLst>
          </a:prstGeom>
          <a:solidFill>
            <a:srgbClr val="F6F8F6"/>
          </a:solidFill>
          <a:ln w="12700">
            <a:solidFill>
              <a:srgbClr val="E0E6E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6796" y="1828800"/>
            <a:ext cx="566928" cy="56692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250028" y="173736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Drainage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5250028" y="2084832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Blockage &amp; stagnation reporting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8112100" y="1554480"/>
            <a:ext cx="3520440" cy="1417320"/>
          </a:xfrm>
          <a:prstGeom prst="roundRect">
            <a:avLst>
              <a:gd name="adj" fmla="val 6452"/>
            </a:avLst>
          </a:prstGeom>
          <a:solidFill>
            <a:srgbClr val="F6F8F6"/>
          </a:solidFill>
          <a:ln w="12700">
            <a:solidFill>
              <a:srgbClr val="E0E6E1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3268" y="1828800"/>
            <a:ext cx="566928" cy="56692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026500" y="173736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Waste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9026500" y="2084832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Garbage, illegal dumping, plastic waste</a:t>
            </a:r>
            <a:endParaRPr lang="en-US" sz="950" dirty="0"/>
          </a:p>
        </p:txBody>
      </p:sp>
      <p:sp>
        <p:nvSpPr>
          <p:cNvPr id="16" name="Shape 11"/>
          <p:cNvSpPr/>
          <p:nvPr/>
        </p:nvSpPr>
        <p:spPr>
          <a:xfrm>
            <a:off x="559156" y="3200400"/>
            <a:ext cx="3520440" cy="1417320"/>
          </a:xfrm>
          <a:prstGeom prst="roundRect">
            <a:avLst>
              <a:gd name="adj" fmla="val 6452"/>
            </a:avLst>
          </a:prstGeom>
          <a:solidFill>
            <a:srgbClr val="F6F8F6"/>
          </a:solidFill>
          <a:ln w="12700">
            <a:solidFill>
              <a:srgbClr val="E0E6E1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324" y="3474720"/>
            <a:ext cx="566928" cy="56692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473556" y="338328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Neervalam (Water)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1473556" y="3730752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River/lake/canal tracking + observations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4335628" y="3200400"/>
            <a:ext cx="3520440" cy="1417320"/>
          </a:xfrm>
          <a:prstGeom prst="roundRect">
            <a:avLst>
              <a:gd name="adj" fmla="val 6452"/>
            </a:avLst>
          </a:prstGeom>
          <a:solidFill>
            <a:srgbClr val="F6F8F6"/>
          </a:solidFill>
          <a:ln w="12700">
            <a:solidFill>
              <a:srgbClr val="E0E6E1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6796" y="3474720"/>
            <a:ext cx="566928" cy="566928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5250028" y="338328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 Nellai</a:t>
            </a:r>
            <a:endParaRPr lang="en-US" sz="1300" dirty="0"/>
          </a:p>
        </p:txBody>
      </p:sp>
      <p:sp>
        <p:nvSpPr>
          <p:cNvPr id="23" name="Text 16"/>
          <p:cNvSpPr txBox="1"/>
          <p:nvPr/>
        </p:nvSpPr>
        <p:spPr>
          <a:xfrm>
            <a:off x="5250028" y="3730752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Plantation sites, tree registry, survival</a:t>
            </a:r>
            <a:endParaRPr lang="en-US" sz="950" dirty="0"/>
          </a:p>
        </p:txBody>
      </p:sp>
      <p:sp>
        <p:nvSpPr>
          <p:cNvPr id="24" name="Shape 17"/>
          <p:cNvSpPr/>
          <p:nvPr/>
        </p:nvSpPr>
        <p:spPr>
          <a:xfrm>
            <a:off x="8112100" y="3200400"/>
            <a:ext cx="3520440" cy="1417320"/>
          </a:xfrm>
          <a:prstGeom prst="roundRect">
            <a:avLst>
              <a:gd name="adj" fmla="val 6452"/>
            </a:avLst>
          </a:prstGeom>
          <a:solidFill>
            <a:srgbClr val="F6F8F6"/>
          </a:solidFill>
          <a:ln w="12700">
            <a:solidFill>
              <a:srgbClr val="E0E6E1"/>
            </a:solidFill>
            <a:prstDash val="solid"/>
          </a:ln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3268" y="3474720"/>
            <a:ext cx="566928" cy="566928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9026500" y="338328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Volunteer Nellai</a:t>
            </a:r>
            <a:endParaRPr lang="en-US" sz="1300" dirty="0"/>
          </a:p>
        </p:txBody>
      </p:sp>
      <p:sp>
        <p:nvSpPr>
          <p:cNvPr id="27" name="Text 19"/>
          <p:cNvSpPr txBox="1"/>
          <p:nvPr/>
        </p:nvSpPr>
        <p:spPr>
          <a:xfrm>
            <a:off x="9026500" y="3730752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scheduling &amp; registration</a:t>
            </a:r>
            <a:endParaRPr lang="en-US" sz="950" dirty="0"/>
          </a:p>
        </p:txBody>
      </p:sp>
      <p:sp>
        <p:nvSpPr>
          <p:cNvPr id="28" name="Shape 20"/>
          <p:cNvSpPr/>
          <p:nvPr/>
        </p:nvSpPr>
        <p:spPr>
          <a:xfrm>
            <a:off x="559156" y="4846320"/>
            <a:ext cx="3520440" cy="1417320"/>
          </a:xfrm>
          <a:prstGeom prst="roundRect">
            <a:avLst>
              <a:gd name="adj" fmla="val 6452"/>
            </a:avLst>
          </a:prstGeom>
          <a:solidFill>
            <a:srgbClr val="F6F8F6"/>
          </a:solidFill>
          <a:ln w="12700">
            <a:solidFill>
              <a:srgbClr val="E0E6E1"/>
            </a:solidFill>
            <a:prstDash val="solid"/>
          </a:ln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0324" y="5120640"/>
            <a:ext cx="566928" cy="566928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1473556" y="502920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Agriculture</a:t>
            </a:r>
            <a:endParaRPr lang="en-US" sz="1300" dirty="0"/>
          </a:p>
        </p:txBody>
      </p:sp>
      <p:sp>
        <p:nvSpPr>
          <p:cNvPr id="31" name="Text 22"/>
          <p:cNvSpPr txBox="1"/>
          <p:nvPr/>
        </p:nvSpPr>
        <p:spPr>
          <a:xfrm>
            <a:off x="1473556" y="5376672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 disease/pest reports + advisories</a:t>
            </a:r>
            <a:endParaRPr lang="en-US" sz="950" dirty="0"/>
          </a:p>
        </p:txBody>
      </p:sp>
      <p:sp>
        <p:nvSpPr>
          <p:cNvPr id="32" name="Shape 23"/>
          <p:cNvSpPr/>
          <p:nvPr/>
        </p:nvSpPr>
        <p:spPr>
          <a:xfrm>
            <a:off x="4335628" y="4846320"/>
            <a:ext cx="3520440" cy="1417320"/>
          </a:xfrm>
          <a:prstGeom prst="roundRect">
            <a:avLst>
              <a:gd name="adj" fmla="val 6452"/>
            </a:avLst>
          </a:prstGeom>
          <a:solidFill>
            <a:srgbClr val="F6F8F6"/>
          </a:solidFill>
          <a:ln w="12700">
            <a:solidFill>
              <a:srgbClr val="E0E6E1"/>
            </a:solidFill>
            <a:prstDash val="solid"/>
          </a:ln>
        </p:spPr>
      </p:sp>
      <p:pic>
        <p:nvPicPr>
          <p:cNvPr id="3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36796" y="5120640"/>
            <a:ext cx="566928" cy="566928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5250028" y="502920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Biodiversity</a:t>
            </a:r>
            <a:endParaRPr lang="en-US" sz="1300" dirty="0"/>
          </a:p>
        </p:txBody>
      </p:sp>
      <p:sp>
        <p:nvSpPr>
          <p:cNvPr id="35" name="Text 25"/>
          <p:cNvSpPr txBox="1"/>
          <p:nvPr/>
        </p:nvSpPr>
        <p:spPr>
          <a:xfrm>
            <a:off x="5250028" y="5376672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Species catalog + sighting observations</a:t>
            </a:r>
            <a:endParaRPr lang="en-US" sz="950" dirty="0"/>
          </a:p>
        </p:txBody>
      </p:sp>
      <p:sp>
        <p:nvSpPr>
          <p:cNvPr id="36" name="Shape 26"/>
          <p:cNvSpPr/>
          <p:nvPr/>
        </p:nvSpPr>
        <p:spPr>
          <a:xfrm>
            <a:off x="8112100" y="4846320"/>
            <a:ext cx="3520440" cy="1417320"/>
          </a:xfrm>
          <a:prstGeom prst="roundRect">
            <a:avLst>
              <a:gd name="adj" fmla="val 6452"/>
            </a:avLst>
          </a:prstGeom>
          <a:solidFill>
            <a:srgbClr val="F6F8F6"/>
          </a:solidFill>
          <a:ln w="12700">
            <a:solidFill>
              <a:srgbClr val="E0E6E1"/>
            </a:solidFill>
            <a:prstDash val="solid"/>
          </a:ln>
        </p:spPr>
      </p:sp>
      <p:pic>
        <p:nvPicPr>
          <p:cNvPr id="3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13268" y="5120640"/>
            <a:ext cx="566928" cy="566928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9026500" y="502920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Disaster</a:t>
            </a:r>
            <a:endParaRPr lang="en-US" sz="1300" dirty="0"/>
          </a:p>
        </p:txBody>
      </p:sp>
      <p:sp>
        <p:nvSpPr>
          <p:cNvPr id="39" name="Text 28"/>
          <p:cNvSpPr txBox="1"/>
          <p:nvPr/>
        </p:nvSpPr>
        <p:spPr>
          <a:xfrm>
            <a:off x="9026500" y="5376672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+ urgent citizen reports</a:t>
            </a:r>
            <a:endParaRPr lang="en-US" sz="950" dirty="0"/>
          </a:p>
        </p:txBody>
      </p:sp>
      <p:sp>
        <p:nvSpPr>
          <p:cNvPr id="40" name="Text 2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Nellai Green &amp; Civic</a:t>
            </a:r>
            <a:endParaRPr lang="en-US" sz="1000" dirty="0"/>
          </a:p>
        </p:txBody>
      </p:sp>
      <p:sp>
        <p:nvSpPr>
          <p:cNvPr id="41" name="Text 30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&amp; Mobile Clients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 clients -- all business logic lives in the shared backend API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852160" cy="3977640"/>
          </a:xfrm>
          <a:prstGeom prst="roundRect">
            <a:avLst>
              <a:gd name="adj" fmla="val 2299"/>
            </a:avLst>
          </a:prstGeom>
          <a:solidFill>
            <a:srgbClr val="F6F8F6"/>
          </a:solidFill>
          <a:ln w="15240">
            <a:solidFill>
              <a:srgbClr val="E0E6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00200"/>
            <a:ext cx="5852160" cy="365760"/>
          </a:xfrm>
          <a:prstGeom prst="roundRect">
            <a:avLst>
              <a:gd name="adj" fmla="val 25000"/>
            </a:avLst>
          </a:prstGeom>
          <a:solidFill>
            <a:srgbClr val="135C39"/>
          </a:solidFill>
          <a:ln/>
        </p:spPr>
      </p:sp>
      <p:sp>
        <p:nvSpPr>
          <p:cNvPr id="6" name="Shape 4"/>
          <p:cNvSpPr/>
          <p:nvPr/>
        </p:nvSpPr>
        <p:spPr>
          <a:xfrm>
            <a:off x="804672" y="1728216"/>
            <a:ext cx="109728" cy="109728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7" name="Shape 5"/>
          <p:cNvSpPr/>
          <p:nvPr/>
        </p:nvSpPr>
        <p:spPr>
          <a:xfrm>
            <a:off x="1005840" y="1728216"/>
            <a:ext cx="109728" cy="109728"/>
          </a:xfrm>
          <a:prstGeom prst="ellipse">
            <a:avLst/>
          </a:prstGeom>
          <a:solidFill>
            <a:srgbClr val="F6C453"/>
          </a:solidFill>
          <a:ln/>
        </p:spPr>
      </p:sp>
      <p:sp>
        <p:nvSpPr>
          <p:cNvPr id="8" name="Shape 6"/>
          <p:cNvSpPr/>
          <p:nvPr/>
        </p:nvSpPr>
        <p:spPr>
          <a:xfrm>
            <a:off x="1207008" y="1728216"/>
            <a:ext cx="109728" cy="109728"/>
          </a:xfrm>
          <a:prstGeom prst="ellipse">
            <a:avLst/>
          </a:prstGeom>
          <a:solidFill>
            <a:srgbClr val="6BCB7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46304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localhost:5173 -- React + TypeScript + Leaflet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40080" y="1965960"/>
            <a:ext cx="1371600" cy="3611880"/>
          </a:xfrm>
          <a:prstGeom prst="rect">
            <a:avLst/>
          </a:prstGeom>
          <a:solidFill>
            <a:srgbClr val="135C39"/>
          </a:solidFill>
          <a:ln/>
        </p:spPr>
      </p:sp>
      <p:sp>
        <p:nvSpPr>
          <p:cNvPr id="11" name="Shape 9"/>
          <p:cNvSpPr/>
          <p:nvPr/>
        </p:nvSpPr>
        <p:spPr>
          <a:xfrm>
            <a:off x="749808" y="2167128"/>
            <a:ext cx="1152144" cy="329184"/>
          </a:xfrm>
          <a:prstGeom prst="roundRect">
            <a:avLst>
              <a:gd name="adj" fmla="val 13889"/>
            </a:avLst>
          </a:prstGeom>
          <a:solidFill>
            <a:srgbClr val="1A7A4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2167128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749808" y="2624328"/>
            <a:ext cx="1152144" cy="329184"/>
          </a:xfrm>
          <a:prstGeom prst="roundRect">
            <a:avLst>
              <a:gd name="adj" fmla="val 13889"/>
            </a:avLst>
          </a:prstGeom>
          <a:solidFill>
            <a:srgbClr val="135C3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2624328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Issue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749808" y="3081528"/>
            <a:ext cx="1152144" cy="329184"/>
          </a:xfrm>
          <a:prstGeom prst="roundRect">
            <a:avLst>
              <a:gd name="adj" fmla="val 13889"/>
            </a:avLst>
          </a:prstGeom>
          <a:solidFill>
            <a:srgbClr val="135C3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3081528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Complaints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749808" y="3538728"/>
            <a:ext cx="1152144" cy="329184"/>
          </a:xfrm>
          <a:prstGeom prst="roundRect">
            <a:avLst>
              <a:gd name="adj" fmla="val 13889"/>
            </a:avLst>
          </a:prstGeom>
          <a:solidFill>
            <a:srgbClr val="135C3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" y="3538728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Nearby Issues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749808" y="3995928"/>
            <a:ext cx="1152144" cy="329184"/>
          </a:xfrm>
          <a:prstGeom prst="roundRect">
            <a:avLst>
              <a:gd name="adj" fmla="val 13889"/>
            </a:avLst>
          </a:prstGeom>
          <a:solidFill>
            <a:srgbClr val="135C39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3995928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 Map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2240280" y="2167128"/>
            <a:ext cx="128016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0E6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0" y="2167128"/>
            <a:ext cx="128016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0E6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74920" y="2167128"/>
            <a:ext cx="128016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0E6E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40280" y="3063240"/>
            <a:ext cx="3977640" cy="2148840"/>
          </a:xfrm>
          <a:prstGeom prst="roundRect">
            <a:avLst>
              <a:gd name="adj" fmla="val 2553"/>
            </a:avLst>
          </a:prstGeom>
          <a:solidFill>
            <a:srgbClr val="E3EEE6"/>
          </a:solidFill>
          <a:ln w="12700">
            <a:solidFill>
              <a:srgbClr val="E0E6E1"/>
            </a:solidFill>
            <a:prstDash val="solid"/>
          </a:ln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09060" y="3680460"/>
            <a:ext cx="640080" cy="640080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2240280" y="436626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 map: complaints, water bodies, trees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6949440" y="1417320"/>
            <a:ext cx="2331720" cy="4617720"/>
          </a:xfrm>
          <a:prstGeom prst="roundRect">
            <a:avLst>
              <a:gd name="adj" fmla="val 10980"/>
            </a:avLst>
          </a:prstGeom>
          <a:solidFill>
            <a:srgbClr val="135C39"/>
          </a:solidFill>
          <a:ln/>
        </p:spPr>
      </p:sp>
      <p:sp>
        <p:nvSpPr>
          <p:cNvPr id="28" name="Shape 25"/>
          <p:cNvSpPr/>
          <p:nvPr/>
        </p:nvSpPr>
        <p:spPr>
          <a:xfrm>
            <a:off x="7040880" y="1673352"/>
            <a:ext cx="2148840" cy="384048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/>
        </p:spPr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0980" y="1920240"/>
            <a:ext cx="548640" cy="548640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7132320" y="251460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2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Nellai Green &amp; Civic</a:t>
            </a:r>
            <a:endParaRPr lang="en-US" sz="900" dirty="0"/>
          </a:p>
        </p:txBody>
      </p:sp>
      <p:sp>
        <p:nvSpPr>
          <p:cNvPr id="31" name="Shape 27"/>
          <p:cNvSpPr/>
          <p:nvPr/>
        </p:nvSpPr>
        <p:spPr>
          <a:xfrm>
            <a:off x="7178040" y="2971800"/>
            <a:ext cx="1874520" cy="420624"/>
          </a:xfrm>
          <a:prstGeom prst="roundRect">
            <a:avLst>
              <a:gd name="adj" fmla="val 13043"/>
            </a:avLst>
          </a:prstGeom>
          <a:solidFill>
            <a:srgbClr val="F6F8F6"/>
          </a:solidFill>
          <a:ln w="9525">
            <a:solidFill>
              <a:srgbClr val="E0E6E1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7269480" y="2971800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C2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Category: DRAIN_BLOCKAGE ▾</a:t>
            </a:r>
            <a:endParaRPr lang="en-US" sz="750" dirty="0"/>
          </a:p>
        </p:txBody>
      </p:sp>
      <p:sp>
        <p:nvSpPr>
          <p:cNvPr id="33" name="Shape 29"/>
          <p:cNvSpPr/>
          <p:nvPr/>
        </p:nvSpPr>
        <p:spPr>
          <a:xfrm>
            <a:off x="7178040" y="3538728"/>
            <a:ext cx="1874520" cy="420624"/>
          </a:xfrm>
          <a:prstGeom prst="roundRect">
            <a:avLst>
              <a:gd name="adj" fmla="val 13043"/>
            </a:avLst>
          </a:prstGeom>
          <a:solidFill>
            <a:srgbClr val="F6F8F6"/>
          </a:solidFill>
          <a:ln w="9525">
            <a:solidFill>
              <a:srgbClr val="E0E6E1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7269480" y="353872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C2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GPS location</a:t>
            </a:r>
            <a:endParaRPr lang="en-US" sz="750" dirty="0"/>
          </a:p>
        </p:txBody>
      </p:sp>
      <p:sp>
        <p:nvSpPr>
          <p:cNvPr id="35" name="Shape 31"/>
          <p:cNvSpPr/>
          <p:nvPr/>
        </p:nvSpPr>
        <p:spPr>
          <a:xfrm>
            <a:off x="7178040" y="4105656"/>
            <a:ext cx="1874520" cy="420624"/>
          </a:xfrm>
          <a:prstGeom prst="roundRect">
            <a:avLst>
              <a:gd name="adj" fmla="val 13043"/>
            </a:avLst>
          </a:prstGeom>
          <a:solidFill>
            <a:srgbClr val="F6F8F6"/>
          </a:solidFill>
          <a:ln w="9525">
            <a:solidFill>
              <a:srgbClr val="E0E6E1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7269480" y="4105656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C2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/ Gallery</a:t>
            </a:r>
            <a:endParaRPr lang="en-US" sz="750" dirty="0"/>
          </a:p>
        </p:txBody>
      </p:sp>
      <p:sp>
        <p:nvSpPr>
          <p:cNvPr id="37" name="Shape 33"/>
          <p:cNvSpPr/>
          <p:nvPr/>
        </p:nvSpPr>
        <p:spPr>
          <a:xfrm>
            <a:off x="7178040" y="4800600"/>
            <a:ext cx="1874520" cy="411480"/>
          </a:xfrm>
          <a:prstGeom prst="roundRect">
            <a:avLst>
              <a:gd name="adj" fmla="val 48889"/>
            </a:avLst>
          </a:prstGeom>
          <a:solidFill>
            <a:srgbClr val="1A7A4C"/>
          </a:solidFill>
          <a:ln/>
        </p:spPr>
      </p:sp>
      <p:sp>
        <p:nvSpPr>
          <p:cNvPr id="38" name="Text 34"/>
          <p:cNvSpPr txBox="1"/>
          <p:nvPr/>
        </p:nvSpPr>
        <p:spPr>
          <a:xfrm>
            <a:off x="7178040" y="480060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Complaint</a:t>
            </a:r>
            <a:endParaRPr lang="en-US" sz="850" dirty="0"/>
          </a:p>
        </p:txBody>
      </p:sp>
      <p:pic>
        <p:nvPicPr>
          <p:cNvPr id="3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5532120"/>
            <a:ext cx="274320" cy="274320"/>
          </a:xfrm>
          <a:prstGeom prst="rect">
            <a:avLst/>
          </a:prstGeom>
        </p:spPr>
      </p:pic>
      <p:pic>
        <p:nvPicPr>
          <p:cNvPr id="4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6680" y="5532120"/>
            <a:ext cx="274320" cy="274320"/>
          </a:xfrm>
          <a:prstGeom prst="rect">
            <a:avLst/>
          </a:prstGeom>
        </p:spPr>
      </p:pic>
      <p:pic>
        <p:nvPicPr>
          <p:cNvPr id="4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3880" y="5532120"/>
            <a:ext cx="274320" cy="274320"/>
          </a:xfrm>
          <a:prstGeom prst="rect">
            <a:avLst/>
          </a:prstGeom>
        </p:spPr>
      </p:pic>
      <p:pic>
        <p:nvPicPr>
          <p:cNvPr id="4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41080" y="5532120"/>
            <a:ext cx="274320" cy="274320"/>
          </a:xfrm>
          <a:prstGeom prst="rect">
            <a:avLst/>
          </a:prstGeom>
        </p:spPr>
      </p:pic>
      <p:sp>
        <p:nvSpPr>
          <p:cNvPr id="43" name="Text 35"/>
          <p:cNvSpPr txBox="1"/>
          <p:nvPr/>
        </p:nvSpPr>
        <p:spPr>
          <a:xfrm>
            <a:off x="6949440" y="614476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-- Android-first, iOS-ready</a:t>
            </a:r>
            <a:endParaRPr lang="en-US" sz="1000" dirty="0"/>
          </a:p>
        </p:txBody>
      </p:sp>
      <p:sp>
        <p:nvSpPr>
          <p:cNvPr id="44" name="Text 36"/>
          <p:cNvSpPr txBox="1"/>
          <p:nvPr/>
        </p:nvSpPr>
        <p:spPr>
          <a:xfrm>
            <a:off x="640080" y="5687568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Wireframe illustration of the real, running UI. Both clients are intentionally thin: GPS capture, photo upload, and rendering only -- assignment, escalation, and workflow rules all live in the shared backend.</a:t>
            </a:r>
            <a:endParaRPr lang="en-US" sz="950" dirty="0"/>
          </a:p>
        </p:txBody>
      </p:sp>
      <p:sp>
        <p:nvSpPr>
          <p:cNvPr id="45" name="Text 3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Nellai Green &amp; Civic</a:t>
            </a:r>
            <a:endParaRPr lang="en-US" sz="1000" dirty="0"/>
          </a:p>
        </p:txBody>
      </p:sp>
      <p:sp>
        <p:nvSpPr>
          <p:cNvPr id="46" name="Text 38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Security, Privacy &amp; Data Model</a:t>
            </a:r>
            <a:endParaRPr lang="en-US" sz="3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600200"/>
            <a:ext cx="502920" cy="5029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15544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JWT auth + RBAC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1280160" y="1892808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roles: Citizen, Volunteer, Authority, Admin, Super Admin, Module Developer</a:t>
            </a:r>
            <a:endParaRPr lang="en-US" sz="105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743200"/>
            <a:ext cx="502920" cy="5029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280160" y="26974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Hardened by default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1280160" y="3035808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 password hashing, SHA-256 refresh-token storage, rate limiting, MIME + size validation on uploads</a:t>
            </a:r>
            <a:endParaRPr lang="en-US" sz="10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886200"/>
            <a:ext cx="502920" cy="5029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280160" y="38404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Privacy by design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1280160" y="4178808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map never shows a reporter's name/contact; self-service account deletion de-identifies complaint history</a:t>
            </a:r>
            <a:endParaRPr lang="en-US" sz="1050" dirty="0"/>
          </a:p>
        </p:txBody>
      </p:sp>
      <p:sp>
        <p:nvSpPr>
          <p:cNvPr id="12" name="Shape 7"/>
          <p:cNvSpPr/>
          <p:nvPr/>
        </p:nvSpPr>
        <p:spPr>
          <a:xfrm>
            <a:off x="6675120" y="1600200"/>
            <a:ext cx="4937760" cy="4526280"/>
          </a:xfrm>
          <a:prstGeom prst="roundRect">
            <a:avLst>
              <a:gd name="adj" fmla="val 2424"/>
            </a:avLst>
          </a:prstGeom>
          <a:solidFill>
            <a:srgbClr val="135C39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1810512"/>
            <a:ext cx="502920" cy="5029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589520" y="190195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PostgreSQL 15 + PostGIS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6949440" y="25146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2600" dirty="0"/>
          </a:p>
        </p:txBody>
      </p:sp>
      <p:sp>
        <p:nvSpPr>
          <p:cNvPr id="16" name="Text 10"/>
          <p:cNvSpPr txBox="1"/>
          <p:nvPr/>
        </p:nvSpPr>
        <p:spPr>
          <a:xfrm>
            <a:off x="8366760" y="258775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 (core + 9 modules)</a:t>
            </a:r>
            <a:endParaRPr lang="en-US" sz="1150" dirty="0"/>
          </a:p>
        </p:txBody>
      </p:sp>
      <p:sp>
        <p:nvSpPr>
          <p:cNvPr id="17" name="Text 11"/>
          <p:cNvSpPr txBox="1"/>
          <p:nvPr/>
        </p:nvSpPr>
        <p:spPr>
          <a:xfrm>
            <a:off x="6949440" y="317296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2600" dirty="0"/>
          </a:p>
        </p:txBody>
      </p:sp>
      <p:sp>
        <p:nvSpPr>
          <p:cNvPr id="18" name="Text 12"/>
          <p:cNvSpPr txBox="1"/>
          <p:nvPr/>
        </p:nvSpPr>
        <p:spPr>
          <a:xfrm>
            <a:off x="8366760" y="32461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 categories, seeded</a:t>
            </a:r>
            <a:endParaRPr lang="en-US" sz="1150" dirty="0"/>
          </a:p>
        </p:txBody>
      </p:sp>
      <p:sp>
        <p:nvSpPr>
          <p:cNvPr id="19" name="Text 13"/>
          <p:cNvSpPr txBox="1"/>
          <p:nvPr/>
        </p:nvSpPr>
        <p:spPr>
          <a:xfrm>
            <a:off x="6949440" y="3831336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4326</a:t>
            </a:r>
            <a:endParaRPr lang="en-US" sz="2600" dirty="0"/>
          </a:p>
        </p:txBody>
      </p:sp>
      <p:sp>
        <p:nvSpPr>
          <p:cNvPr id="20" name="Text 14"/>
          <p:cNvSpPr txBox="1"/>
          <p:nvPr/>
        </p:nvSpPr>
        <p:spPr>
          <a:xfrm>
            <a:off x="8366760" y="390448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SRID -- real GPS lat/lng geometry</a:t>
            </a:r>
            <a:endParaRPr lang="en-US" sz="1150" dirty="0"/>
          </a:p>
        </p:txBody>
      </p:sp>
      <p:sp>
        <p:nvSpPr>
          <p:cNvPr id="21" name="Text 15"/>
          <p:cNvSpPr txBox="1"/>
          <p:nvPr/>
        </p:nvSpPr>
        <p:spPr>
          <a:xfrm>
            <a:off x="6949440" y="4489704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600" dirty="0"/>
          </a:p>
        </p:txBody>
      </p:sp>
      <p:sp>
        <p:nvSpPr>
          <p:cNvPr id="22" name="Text 16"/>
          <p:cNvSpPr txBox="1"/>
          <p:nvPr/>
        </p:nvSpPr>
        <p:spPr>
          <a:xfrm>
            <a:off x="8366760" y="456285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test suites, all passing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6949440" y="5193792"/>
            <a:ext cx="4389120" cy="0"/>
          </a:xfrm>
          <a:prstGeom prst="line">
            <a:avLst/>
          </a:prstGeom>
          <a:noFill/>
          <a:ln w="12700">
            <a:solidFill>
              <a:srgbClr val="2F6B4C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6949440" y="5349240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Alembic-managed migrations; every module's models bind to the same shared metadata, so core and module tables evolve together.</a:t>
            </a:r>
            <a:endParaRPr lang="en-US" sz="1050" dirty="0"/>
          </a:p>
        </p:txBody>
      </p:sp>
      <p:sp>
        <p:nvSpPr>
          <p:cNvPr id="25" name="Text 1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Nellai Green &amp; Civic</a:t>
            </a:r>
            <a:endParaRPr lang="en-US" sz="1000" dirty="0"/>
          </a:p>
        </p:txBody>
      </p:sp>
      <p:sp>
        <p:nvSpPr>
          <p:cNvPr id="26" name="Text 20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Source &amp; Extensibility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License 2.0 -- built for community contribution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94360" y="1691640"/>
            <a:ext cx="457200" cy="457200"/>
          </a:xfrm>
          <a:prstGeom prst="ellipse">
            <a:avLst/>
          </a:prstGeom>
          <a:solidFill>
            <a:srgbClr val="1A7A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1907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modules/&lt;id&gt;/module.json (id, name, version, categories...)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22960" y="2148840"/>
            <a:ext cx="0" cy="411480"/>
          </a:xfrm>
          <a:prstGeom prst="line">
            <a:avLst/>
          </a:prstGeom>
          <a:noFill/>
          <a:ln w="19050">
            <a:solidFill>
              <a:srgbClr val="E0E6E1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594360" y="2560320"/>
            <a:ext cx="457200" cy="457200"/>
          </a:xfrm>
          <a:prstGeom prst="ellipse">
            <a:avLst/>
          </a:prstGeom>
          <a:solidFill>
            <a:srgbClr val="1A7A4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5877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Optionally add backend/models.py -- binds to the shared Base, Alembic manages it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22960" y="3017520"/>
            <a:ext cx="0" cy="411480"/>
          </a:xfrm>
          <a:prstGeom prst="line">
            <a:avLst/>
          </a:prstGeom>
          <a:noFill/>
          <a:ln w="19050">
            <a:solidFill>
              <a:srgbClr val="E0E6E1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594360" y="3429000"/>
            <a:ext cx="457200" cy="457200"/>
          </a:xfrm>
          <a:prstGeom prst="ellipse">
            <a:avLst/>
          </a:prstGeom>
          <a:solidFill>
            <a:srgbClr val="1A7A4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45643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Optionally add backend/router.py -- auto-mounted at /api/v1/modules/&lt;id&gt;/...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22960" y="3886200"/>
            <a:ext cx="0" cy="411480"/>
          </a:xfrm>
          <a:prstGeom prst="line">
            <a:avLst/>
          </a:prstGeom>
          <a:noFill/>
          <a:ln w="19050">
            <a:solidFill>
              <a:srgbClr val="E0E6E1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594360" y="4297680"/>
            <a:ext cx="457200" cy="457200"/>
          </a:xfrm>
          <a:prstGeom prst="ellipse">
            <a:avLst/>
          </a:prstGeom>
          <a:solidFill>
            <a:srgbClr val="1A7A4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432511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discovers it at startup. No core file is ever edited.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5303520"/>
            <a:ext cx="8183880" cy="1005840"/>
          </a:xfrm>
          <a:prstGeom prst="roundRect">
            <a:avLst>
              <a:gd name="adj" fmla="val 9091"/>
            </a:avLst>
          </a:prstGeom>
          <a:solidFill>
            <a:srgbClr val="E3EEE6"/>
          </a:solidFill>
          <a:ln w="12700">
            <a:solidFill>
              <a:srgbClr val="97BC62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486400"/>
            <a:ext cx="548640" cy="54864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508760" y="544068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5C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pattern: all 9 shipped modules -- from a 0-code category module (civic) to a full custom-entity module (water) -- follow exactly this path.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52560" y="1600200"/>
            <a:ext cx="2606040" cy="4480560"/>
          </a:xfrm>
          <a:prstGeom prst="roundRect">
            <a:avLst>
              <a:gd name="adj" fmla="val 3509"/>
            </a:avLst>
          </a:prstGeom>
          <a:solidFill>
            <a:srgbClr val="F6F8F6"/>
          </a:solidFill>
          <a:ln w="12700">
            <a:solidFill>
              <a:srgbClr val="E0E6E1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1783080"/>
            <a:ext cx="457200" cy="45720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9281160" y="22860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docs/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9281160" y="26517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architecture.md</a:t>
            </a:r>
            <a:endParaRPr lang="en-US" sz="950" dirty="0"/>
          </a:p>
        </p:txBody>
      </p:sp>
      <p:sp>
        <p:nvSpPr>
          <p:cNvPr id="26" name="Text 22"/>
          <p:cNvSpPr txBox="1"/>
          <p:nvPr/>
        </p:nvSpPr>
        <p:spPr>
          <a:xfrm>
            <a:off x="9281160" y="29718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installation.md</a:t>
            </a:r>
            <a:endParaRPr lang="en-US" sz="950" dirty="0"/>
          </a:p>
        </p:txBody>
      </p:sp>
      <p:sp>
        <p:nvSpPr>
          <p:cNvPr id="27" name="Text 23"/>
          <p:cNvSpPr txBox="1"/>
          <p:nvPr/>
        </p:nvSpPr>
        <p:spPr>
          <a:xfrm>
            <a:off x="9281160" y="3291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module-development.md</a:t>
            </a:r>
            <a:endParaRPr lang="en-US" sz="950" dirty="0"/>
          </a:p>
        </p:txBody>
      </p:sp>
      <p:sp>
        <p:nvSpPr>
          <p:cNvPr id="28" name="Text 24"/>
          <p:cNvSpPr txBox="1"/>
          <p:nvPr/>
        </p:nvSpPr>
        <p:spPr>
          <a:xfrm>
            <a:off x="9281160" y="36118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api.md</a:t>
            </a:r>
            <a:endParaRPr lang="en-US" sz="950" dirty="0"/>
          </a:p>
        </p:txBody>
      </p:sp>
      <p:sp>
        <p:nvSpPr>
          <p:cNvPr id="29" name="Text 25"/>
          <p:cNvSpPr txBox="1"/>
          <p:nvPr/>
        </p:nvSpPr>
        <p:spPr>
          <a:xfrm>
            <a:off x="9281160" y="39319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database.md</a:t>
            </a:r>
            <a:endParaRPr lang="en-US" sz="950" dirty="0"/>
          </a:p>
        </p:txBody>
      </p:sp>
      <p:sp>
        <p:nvSpPr>
          <p:cNvPr id="30" name="Text 26"/>
          <p:cNvSpPr txBox="1"/>
          <p:nvPr/>
        </p:nvSpPr>
        <p:spPr>
          <a:xfrm>
            <a:off x="9281160" y="42519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deployment.md</a:t>
            </a:r>
            <a:endParaRPr lang="en-US" sz="950" dirty="0"/>
          </a:p>
        </p:txBody>
      </p:sp>
      <p:sp>
        <p:nvSpPr>
          <p:cNvPr id="31" name="Text 27"/>
          <p:cNvSpPr txBox="1"/>
          <p:nvPr/>
        </p:nvSpPr>
        <p:spPr>
          <a:xfrm>
            <a:off x="9281160" y="45720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security.md</a:t>
            </a:r>
            <a:endParaRPr lang="en-US" sz="950" dirty="0"/>
          </a:p>
        </p:txBody>
      </p:sp>
      <p:sp>
        <p:nvSpPr>
          <p:cNvPr id="32" name="Text 28"/>
          <p:cNvSpPr txBox="1"/>
          <p:nvPr/>
        </p:nvSpPr>
        <p:spPr>
          <a:xfrm>
            <a:off x="9281160" y="4892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android-release.md</a:t>
            </a:r>
            <a:endParaRPr lang="en-US" sz="950" dirty="0"/>
          </a:p>
        </p:txBody>
      </p:sp>
      <p:sp>
        <p:nvSpPr>
          <p:cNvPr id="33" name="Text 29"/>
          <p:cNvSpPr txBox="1"/>
          <p:nvPr/>
        </p:nvSpPr>
        <p:spPr>
          <a:xfrm>
            <a:off x="9281160" y="52120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privacy-policy.md</a:t>
            </a:r>
            <a:endParaRPr lang="en-US" sz="950" dirty="0"/>
          </a:p>
        </p:txBody>
      </p:sp>
      <p:sp>
        <p:nvSpPr>
          <p:cNvPr id="34" name="Text 30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Nellai Green &amp; Civic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35C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Current Status -- Verified, Not Just Claimed</a:t>
            </a:r>
            <a:endParaRPr lang="en-US" sz="28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384048" cy="38404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88720" y="1399032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complaint lifecycle tested live: GPS → boundary lookup → authority assignment → working-day deadline</a:t>
            </a:r>
            <a:endParaRPr lang="en-US" sz="135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39112"/>
            <a:ext cx="384048" cy="3840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188720" y="2020824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microservice returns real inference (not a stub) -- confirmed against multiple free-text descriptions</a:t>
            </a:r>
            <a:endParaRPr lang="en-US" sz="135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660904"/>
            <a:ext cx="384048" cy="384048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188720" y="2642616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backend pytest suites passing against live PostgreSQL + PostGIS (auth, complaint creation, GIS assignment)</a:t>
            </a:r>
            <a:endParaRPr lang="en-US" sz="135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282696"/>
            <a:ext cx="384048" cy="384048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1188720" y="326440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app: flutter analyze -- “No issues found”; widget test passing</a:t>
            </a:r>
            <a:endParaRPr lang="en-US" sz="1350" dirty="0"/>
          </a:p>
        </p:txBody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904488"/>
            <a:ext cx="384048" cy="384048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1188720" y="3886200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app: TypeScript compiles clean (tsc -b); Vite dev server serving all citizen/admin/authority routes</a:t>
            </a:r>
            <a:endParaRPr lang="en-US" sz="1350" dirty="0"/>
          </a:p>
        </p:txBody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4526280"/>
            <a:ext cx="384048" cy="384048"/>
          </a:xfrm>
          <a:prstGeom prst="rect">
            <a:avLst/>
          </a:prstGeom>
        </p:spPr>
      </p:pic>
      <p:sp>
        <p:nvSpPr>
          <p:cNvPr id="14" name="Text 6"/>
          <p:cNvSpPr txBox="1"/>
          <p:nvPr/>
        </p:nvSpPr>
        <p:spPr>
          <a:xfrm>
            <a:off x="1188720" y="4507992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9 module.json manifests pass CI's schema validation script</a:t>
            </a:r>
            <a:endParaRPr lang="en-US" sz="1350" dirty="0"/>
          </a:p>
        </p:txBody>
      </p:sp>
      <p:pic>
        <p:nvPicPr>
          <p:cNvPr id="1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5148072"/>
            <a:ext cx="384048" cy="384048"/>
          </a:xfrm>
          <a:prstGeom prst="rect">
            <a:avLst/>
          </a:prstGeom>
        </p:spPr>
      </p:pic>
      <p:sp>
        <p:nvSpPr>
          <p:cNvPr id="16" name="Text 7"/>
          <p:cNvSpPr txBox="1"/>
          <p:nvPr/>
        </p:nvSpPr>
        <p:spPr>
          <a:xfrm>
            <a:off x="1188720" y="5129784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migration applied cleanly: 28 tables across core + all 9 modules, from one Alembic chain</a:t>
            </a:r>
            <a:endParaRPr lang="en-US" sz="1350" dirty="0"/>
          </a:p>
        </p:txBody>
      </p:sp>
      <p:sp>
        <p:nvSpPr>
          <p:cNvPr id="17" name="Text 8"/>
          <p:cNvSpPr txBox="1"/>
          <p:nvPr/>
        </p:nvSpPr>
        <p:spPr>
          <a:xfrm>
            <a:off x="548640" y="5907024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done for you (needs your own accounts/credentials): Play Store upload, production TLS domain, SMTP/FCM credentials for real email/push.</a:t>
            </a:r>
            <a:endParaRPr lang="en-US" sz="1150" dirty="0"/>
          </a:p>
        </p:txBody>
      </p:sp>
      <p:sp>
        <p:nvSpPr>
          <p:cNvPr id="18" name="Text 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ADC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Nellai Green &amp; Civic</a:t>
            </a:r>
            <a:endParaRPr lang="en-US" sz="1000" dirty="0"/>
          </a:p>
        </p:txBody>
      </p:sp>
      <p:sp>
        <p:nvSpPr>
          <p:cNvPr id="19" name="Text 10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 &amp; Conclusion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7A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next</a:t>
            </a:r>
            <a:endParaRPr lang="en-US" sz="1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965960"/>
            <a:ext cx="365760" cy="365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97280" y="1938528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Store production release (signing key, store listing, Data Safety form)</a:t>
            </a:r>
            <a:endParaRPr lang="en-US" sz="115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743200"/>
            <a:ext cx="365760" cy="3657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7280" y="2715768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Community-contributed modules: flood monitoring, temple water tanks, school environmental clubs</a:t>
            </a:r>
            <a:endParaRPr lang="en-US" sz="115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520440"/>
            <a:ext cx="365760" cy="36576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0" y="3493008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Fine-tuned, domain-specific vision model to replace the auxiliary ImageNet signal</a:t>
            </a:r>
            <a:endParaRPr lang="en-US" sz="115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4297680"/>
            <a:ext cx="365760" cy="36576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097280" y="4270248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Multi-district configuration -- Tirunelveli as the reference deployment, not the ceiling</a:t>
            </a:r>
            <a:endParaRPr lang="en-US" sz="1150" dirty="0"/>
          </a:p>
        </p:txBody>
      </p:sp>
      <p:sp>
        <p:nvSpPr>
          <p:cNvPr id="12" name="Shape 6"/>
          <p:cNvSpPr/>
          <p:nvPr/>
        </p:nvSpPr>
        <p:spPr>
          <a:xfrm>
            <a:off x="6309360" y="1554480"/>
            <a:ext cx="5349240" cy="4297680"/>
          </a:xfrm>
          <a:prstGeom prst="roundRect">
            <a:avLst>
              <a:gd name="adj" fmla="val 2553"/>
            </a:avLst>
          </a:prstGeom>
          <a:solidFill>
            <a:srgbClr val="135C39"/>
          </a:solidFill>
          <a:ln/>
        </p:spPr>
      </p:sp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0" y="1783080"/>
            <a:ext cx="594360" cy="59436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7315200" y="182880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reusable open-source framework, with Tirunelveli as the first reference implementation.</a:t>
            </a:r>
            <a:endParaRPr lang="en-US" sz="1400" dirty="0"/>
          </a:p>
        </p:txBody>
      </p:sp>
      <p:sp>
        <p:nvSpPr>
          <p:cNvPr id="15" name="Text 8"/>
          <p:cNvSpPr txBox="1"/>
          <p:nvPr/>
        </p:nvSpPr>
        <p:spPr>
          <a:xfrm>
            <a:off x="6583680" y="269748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design decision in this project traces back to one goal: build the core once, and let students, developers, NGOs, and citizens extend it indefinitely -- without ever needing to touch, or even fully understand, the core.</a:t>
            </a:r>
            <a:endParaRPr lang="en-US" sz="1250" dirty="0"/>
          </a:p>
        </p:txBody>
      </p:sp>
      <p:sp>
        <p:nvSpPr>
          <p:cNvPr id="16" name="Shape 9"/>
          <p:cNvSpPr/>
          <p:nvPr/>
        </p:nvSpPr>
        <p:spPr>
          <a:xfrm>
            <a:off x="6583680" y="3977640"/>
            <a:ext cx="4846320" cy="0"/>
          </a:xfrm>
          <a:prstGeom prst="line">
            <a:avLst/>
          </a:prstGeom>
          <a:noFill/>
          <a:ln w="12700">
            <a:solidFill>
              <a:srgbClr val="2F6B4C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6583680" y="41605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you.</a:t>
            </a:r>
            <a:endParaRPr lang="en-US" sz="2000" dirty="0"/>
          </a:p>
        </p:txBody>
      </p:sp>
      <p:sp>
        <p:nvSpPr>
          <p:cNvPr id="18" name="Text 11"/>
          <p:cNvSpPr txBox="1"/>
          <p:nvPr/>
        </p:nvSpPr>
        <p:spPr>
          <a:xfrm>
            <a:off x="6583680" y="46177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ADC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welcome.</a:t>
            </a:r>
            <a:endParaRPr lang="en-US" sz="1300" dirty="0"/>
          </a:p>
        </p:txBody>
      </p:sp>
      <p:sp>
        <p:nvSpPr>
          <p:cNvPr id="19" name="Text 1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Nellai Green &amp; Civic</a:t>
            </a:r>
            <a:endParaRPr lang="en-US" sz="1000" dirty="0"/>
          </a:p>
        </p:txBody>
      </p:sp>
      <p:sp>
        <p:nvSpPr>
          <p:cNvPr id="20" name="Text 13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M.E. Project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Nellai Green &amp; Civic</dc:title>
  <dc:subject>PptxGenJS Presentation</dc:subject>
  <dc:creator>Nellai Green &amp; Civic</dc:creator>
  <cp:lastModifiedBy>Nellai Green &amp; Civic</cp:lastModifiedBy>
  <cp:revision>1</cp:revision>
  <dcterms:created xsi:type="dcterms:W3CDTF">2026-09-18T13:37:36Z</dcterms:created>
  <dcterms:modified xsi:type="dcterms:W3CDTF">2026-09-18T13:37:36Z</dcterms:modified>
</cp:coreProperties>
</file>